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9" r:id="rId13"/>
  </p:sldIdLst>
  <p:sldSz cx="18288000" cy="10287000"/>
  <p:notesSz cx="6858000" cy="9144000"/>
  <p:embeddedFontLst>
    <p:embeddedFont>
      <p:font typeface="Nunito Sans Condensed" panose="020B0604020202020204" charset="0"/>
      <p:regular r:id="rId14"/>
    </p:embeddedFont>
    <p:embeddedFont>
      <p:font typeface="Nunito Sans Condensed Bold" panose="020B0604020202020204" charset="0"/>
      <p:regular r:id="rId15"/>
    </p:embeddedFont>
    <p:embeddedFont>
      <p:font typeface="Nunito Sans Condensed Light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49B1C2-BE90-4662-8DE4-8E117789E67E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BCA8A40-EA26-4A4D-9F52-E0A365950945}">
      <dgm:prSet/>
      <dgm:spPr/>
      <dgm:t>
        <a:bodyPr/>
        <a:lstStyle/>
        <a:p>
          <a:r>
            <a:rPr lang="nn-NO" b="1"/>
            <a:t>Data Awal:</a:t>
          </a:r>
          <a:r>
            <a:rPr lang="nn-NO"/>
            <a:t> Total 3.250 data, didominasi Hoaks (65%) dan Fakta (35%) .</a:t>
          </a:r>
          <a:endParaRPr lang="en-US"/>
        </a:p>
      </dgm:t>
    </dgm:pt>
    <dgm:pt modelId="{64C53B6E-640F-4331-914F-8FD2BD778148}" type="parTrans" cxnId="{7695ADD4-6813-4A9F-A04C-E728BEA3BCF5}">
      <dgm:prSet/>
      <dgm:spPr/>
      <dgm:t>
        <a:bodyPr/>
        <a:lstStyle/>
        <a:p>
          <a:endParaRPr lang="en-US"/>
        </a:p>
      </dgm:t>
    </dgm:pt>
    <dgm:pt modelId="{8AF05552-01B0-4281-8F89-5E89A331B351}" type="sibTrans" cxnId="{7695ADD4-6813-4A9F-A04C-E728BEA3BCF5}">
      <dgm:prSet/>
      <dgm:spPr/>
      <dgm:t>
        <a:bodyPr/>
        <a:lstStyle/>
        <a:p>
          <a:endParaRPr lang="en-US"/>
        </a:p>
      </dgm:t>
    </dgm:pt>
    <dgm:pt modelId="{E9FD31F3-0FC5-4E62-9311-AECBDA844517}">
      <dgm:prSet/>
      <dgm:spPr/>
      <dgm:t>
        <a:bodyPr/>
        <a:lstStyle/>
        <a:p>
          <a:r>
            <a:rPr lang="en-ID" b="1"/>
            <a:t>Proses Penyeimbangan:</a:t>
          </a:r>
          <a:r>
            <a:rPr lang="en-ID"/>
            <a:t> Menggunakan teknik </a:t>
          </a:r>
          <a:r>
            <a:rPr lang="en-ID" i="1"/>
            <a:t>undersampling</a:t>
          </a:r>
          <a:r>
            <a:rPr lang="en-ID"/>
            <a:t> untuk menyamakan jumlah data .</a:t>
          </a:r>
          <a:endParaRPr lang="en-US"/>
        </a:p>
      </dgm:t>
    </dgm:pt>
    <dgm:pt modelId="{15F546CE-AEC9-4A4B-B5F6-95784AF7E932}" type="parTrans" cxnId="{8E1BDECF-AF73-4067-9105-1F496B2A54BE}">
      <dgm:prSet/>
      <dgm:spPr/>
      <dgm:t>
        <a:bodyPr/>
        <a:lstStyle/>
        <a:p>
          <a:endParaRPr lang="en-US"/>
        </a:p>
      </dgm:t>
    </dgm:pt>
    <dgm:pt modelId="{635AAC04-1018-4FD6-9AA9-9F66B8946E33}" type="sibTrans" cxnId="{8E1BDECF-AF73-4067-9105-1F496B2A54BE}">
      <dgm:prSet/>
      <dgm:spPr/>
      <dgm:t>
        <a:bodyPr/>
        <a:lstStyle/>
        <a:p>
          <a:endParaRPr lang="en-US"/>
        </a:p>
      </dgm:t>
    </dgm:pt>
    <dgm:pt modelId="{566B10A0-D652-4741-965A-344CB0539039}">
      <dgm:prSet/>
      <dgm:spPr/>
      <dgm:t>
        <a:bodyPr/>
        <a:lstStyle/>
        <a:p>
          <a:r>
            <a:rPr lang="en-ID" b="1"/>
            <a:t>Hasil Akhir Data Uji: </a:t>
          </a:r>
          <a:r>
            <a:rPr lang="en-ID"/>
            <a:t>Total 2.184 data, dengan komposisi akhir 50% Hoaks (1.092) dan 50% Fakta (1.092) .</a:t>
          </a:r>
          <a:endParaRPr lang="en-US"/>
        </a:p>
      </dgm:t>
    </dgm:pt>
    <dgm:pt modelId="{55FB0B87-D9F6-4A07-973B-07216C548F9E}" type="parTrans" cxnId="{6FA04970-C95C-4333-8FFE-4E48C89F0EA3}">
      <dgm:prSet/>
      <dgm:spPr/>
      <dgm:t>
        <a:bodyPr/>
        <a:lstStyle/>
        <a:p>
          <a:endParaRPr lang="en-US"/>
        </a:p>
      </dgm:t>
    </dgm:pt>
    <dgm:pt modelId="{19ED1CF9-D2B1-44AD-A1AF-B0A7EFC5989B}" type="sibTrans" cxnId="{6FA04970-C95C-4333-8FFE-4E48C89F0EA3}">
      <dgm:prSet/>
      <dgm:spPr/>
      <dgm:t>
        <a:bodyPr/>
        <a:lstStyle/>
        <a:p>
          <a:endParaRPr lang="en-US"/>
        </a:p>
      </dgm:t>
    </dgm:pt>
    <dgm:pt modelId="{5AAA78D5-0387-44A9-85A8-0AEAABFCD8B7}" type="pres">
      <dgm:prSet presAssocID="{DB49B1C2-BE90-4662-8DE4-8E117789E67E}" presName="diagram" presStyleCnt="0">
        <dgm:presLayoutVars>
          <dgm:dir/>
          <dgm:resizeHandles val="exact"/>
        </dgm:presLayoutVars>
      </dgm:prSet>
      <dgm:spPr/>
    </dgm:pt>
    <dgm:pt modelId="{05FA7A5D-8532-4266-A09D-AA96DB45E6F0}" type="pres">
      <dgm:prSet presAssocID="{6BCA8A40-EA26-4A4D-9F52-E0A365950945}" presName="node" presStyleLbl="node1" presStyleIdx="0" presStyleCnt="3">
        <dgm:presLayoutVars>
          <dgm:bulletEnabled val="1"/>
        </dgm:presLayoutVars>
      </dgm:prSet>
      <dgm:spPr/>
    </dgm:pt>
    <dgm:pt modelId="{2553FD79-A344-4A78-B186-11A345DE0234}" type="pres">
      <dgm:prSet presAssocID="{8AF05552-01B0-4281-8F89-5E89A331B351}" presName="sibTrans" presStyleLbl="sibTrans2D1" presStyleIdx="0" presStyleCnt="2"/>
      <dgm:spPr/>
    </dgm:pt>
    <dgm:pt modelId="{E956D3F8-72CA-444C-863C-389017FCD959}" type="pres">
      <dgm:prSet presAssocID="{8AF05552-01B0-4281-8F89-5E89A331B351}" presName="connectorText" presStyleLbl="sibTrans2D1" presStyleIdx="0" presStyleCnt="2"/>
      <dgm:spPr/>
    </dgm:pt>
    <dgm:pt modelId="{0C98F2C0-5236-42A2-80B9-C5B3EC65E6CF}" type="pres">
      <dgm:prSet presAssocID="{E9FD31F3-0FC5-4E62-9311-AECBDA844517}" presName="node" presStyleLbl="node1" presStyleIdx="1" presStyleCnt="3">
        <dgm:presLayoutVars>
          <dgm:bulletEnabled val="1"/>
        </dgm:presLayoutVars>
      </dgm:prSet>
      <dgm:spPr/>
    </dgm:pt>
    <dgm:pt modelId="{9883CC9F-D411-4CD0-818F-BD9D48F913A7}" type="pres">
      <dgm:prSet presAssocID="{635AAC04-1018-4FD6-9AA9-9F66B8946E33}" presName="sibTrans" presStyleLbl="sibTrans2D1" presStyleIdx="1" presStyleCnt="2"/>
      <dgm:spPr/>
    </dgm:pt>
    <dgm:pt modelId="{D566F872-0FCE-40CA-9BE6-E868337CBBCB}" type="pres">
      <dgm:prSet presAssocID="{635AAC04-1018-4FD6-9AA9-9F66B8946E33}" presName="connectorText" presStyleLbl="sibTrans2D1" presStyleIdx="1" presStyleCnt="2"/>
      <dgm:spPr/>
    </dgm:pt>
    <dgm:pt modelId="{B7EE8B1D-DF0E-408E-8144-80E81B401F7D}" type="pres">
      <dgm:prSet presAssocID="{566B10A0-D652-4741-965A-344CB0539039}" presName="node" presStyleLbl="node1" presStyleIdx="2" presStyleCnt="3">
        <dgm:presLayoutVars>
          <dgm:bulletEnabled val="1"/>
        </dgm:presLayoutVars>
      </dgm:prSet>
      <dgm:spPr/>
    </dgm:pt>
  </dgm:ptLst>
  <dgm:cxnLst>
    <dgm:cxn modelId="{8B1E9409-079F-41BA-9F42-03A4938CD594}" type="presOf" srcId="{635AAC04-1018-4FD6-9AA9-9F66B8946E33}" destId="{D566F872-0FCE-40CA-9BE6-E868337CBBCB}" srcOrd="1" destOrd="0" presId="urn:microsoft.com/office/officeart/2005/8/layout/process5"/>
    <dgm:cxn modelId="{67665611-19A9-4AEF-AC0C-0B5F7223EBBE}" type="presOf" srcId="{DB49B1C2-BE90-4662-8DE4-8E117789E67E}" destId="{5AAA78D5-0387-44A9-85A8-0AEAABFCD8B7}" srcOrd="0" destOrd="0" presId="urn:microsoft.com/office/officeart/2005/8/layout/process5"/>
    <dgm:cxn modelId="{8474A914-0EF0-47CA-8083-F7C2F5B68FC0}" type="presOf" srcId="{E9FD31F3-0FC5-4E62-9311-AECBDA844517}" destId="{0C98F2C0-5236-42A2-80B9-C5B3EC65E6CF}" srcOrd="0" destOrd="0" presId="urn:microsoft.com/office/officeart/2005/8/layout/process5"/>
    <dgm:cxn modelId="{6FA04970-C95C-4333-8FFE-4E48C89F0EA3}" srcId="{DB49B1C2-BE90-4662-8DE4-8E117789E67E}" destId="{566B10A0-D652-4741-965A-344CB0539039}" srcOrd="2" destOrd="0" parTransId="{55FB0B87-D9F6-4A07-973B-07216C548F9E}" sibTransId="{19ED1CF9-D2B1-44AD-A1AF-B0A7EFC5989B}"/>
    <dgm:cxn modelId="{78350F95-9515-42DC-A839-641F548FB520}" type="presOf" srcId="{566B10A0-D652-4741-965A-344CB0539039}" destId="{B7EE8B1D-DF0E-408E-8144-80E81B401F7D}" srcOrd="0" destOrd="0" presId="urn:microsoft.com/office/officeart/2005/8/layout/process5"/>
    <dgm:cxn modelId="{2092BF97-EA6B-4715-9A2E-F99D8F6FA0D6}" type="presOf" srcId="{8AF05552-01B0-4281-8F89-5E89A331B351}" destId="{E956D3F8-72CA-444C-863C-389017FCD959}" srcOrd="1" destOrd="0" presId="urn:microsoft.com/office/officeart/2005/8/layout/process5"/>
    <dgm:cxn modelId="{F02D35C0-A61E-49E9-8ECE-396715B8A953}" type="presOf" srcId="{6BCA8A40-EA26-4A4D-9F52-E0A365950945}" destId="{05FA7A5D-8532-4266-A09D-AA96DB45E6F0}" srcOrd="0" destOrd="0" presId="urn:microsoft.com/office/officeart/2005/8/layout/process5"/>
    <dgm:cxn modelId="{8E1BDECF-AF73-4067-9105-1F496B2A54BE}" srcId="{DB49B1C2-BE90-4662-8DE4-8E117789E67E}" destId="{E9FD31F3-0FC5-4E62-9311-AECBDA844517}" srcOrd="1" destOrd="0" parTransId="{15F546CE-AEC9-4A4B-B5F6-95784AF7E932}" sibTransId="{635AAC04-1018-4FD6-9AA9-9F66B8946E33}"/>
    <dgm:cxn modelId="{7695ADD4-6813-4A9F-A04C-E728BEA3BCF5}" srcId="{DB49B1C2-BE90-4662-8DE4-8E117789E67E}" destId="{6BCA8A40-EA26-4A4D-9F52-E0A365950945}" srcOrd="0" destOrd="0" parTransId="{64C53B6E-640F-4331-914F-8FD2BD778148}" sibTransId="{8AF05552-01B0-4281-8F89-5E89A331B351}"/>
    <dgm:cxn modelId="{2E393DE7-C0E3-402C-8D9B-03032BFCDE7D}" type="presOf" srcId="{8AF05552-01B0-4281-8F89-5E89A331B351}" destId="{2553FD79-A344-4A78-B186-11A345DE0234}" srcOrd="0" destOrd="0" presId="urn:microsoft.com/office/officeart/2005/8/layout/process5"/>
    <dgm:cxn modelId="{0A4E79F9-356E-4074-9522-90EE1ADDC702}" type="presOf" srcId="{635AAC04-1018-4FD6-9AA9-9F66B8946E33}" destId="{9883CC9F-D411-4CD0-818F-BD9D48F913A7}" srcOrd="0" destOrd="0" presId="urn:microsoft.com/office/officeart/2005/8/layout/process5"/>
    <dgm:cxn modelId="{DFCB5A6B-B706-463D-933B-28783D055829}" type="presParOf" srcId="{5AAA78D5-0387-44A9-85A8-0AEAABFCD8B7}" destId="{05FA7A5D-8532-4266-A09D-AA96DB45E6F0}" srcOrd="0" destOrd="0" presId="urn:microsoft.com/office/officeart/2005/8/layout/process5"/>
    <dgm:cxn modelId="{8683B54C-2250-425C-8AC5-E6F360227CC0}" type="presParOf" srcId="{5AAA78D5-0387-44A9-85A8-0AEAABFCD8B7}" destId="{2553FD79-A344-4A78-B186-11A345DE0234}" srcOrd="1" destOrd="0" presId="urn:microsoft.com/office/officeart/2005/8/layout/process5"/>
    <dgm:cxn modelId="{8926C2DE-4148-4886-BEF6-F0F99A605838}" type="presParOf" srcId="{2553FD79-A344-4A78-B186-11A345DE0234}" destId="{E956D3F8-72CA-444C-863C-389017FCD959}" srcOrd="0" destOrd="0" presId="urn:microsoft.com/office/officeart/2005/8/layout/process5"/>
    <dgm:cxn modelId="{4FF7B0D3-DEB0-4DDF-8243-850361D353A8}" type="presParOf" srcId="{5AAA78D5-0387-44A9-85A8-0AEAABFCD8B7}" destId="{0C98F2C0-5236-42A2-80B9-C5B3EC65E6CF}" srcOrd="2" destOrd="0" presId="urn:microsoft.com/office/officeart/2005/8/layout/process5"/>
    <dgm:cxn modelId="{86E2A17D-0711-4A86-9483-B672C1676B78}" type="presParOf" srcId="{5AAA78D5-0387-44A9-85A8-0AEAABFCD8B7}" destId="{9883CC9F-D411-4CD0-818F-BD9D48F913A7}" srcOrd="3" destOrd="0" presId="urn:microsoft.com/office/officeart/2005/8/layout/process5"/>
    <dgm:cxn modelId="{3CA5F9E9-118E-4DAB-B21B-73C54C93731F}" type="presParOf" srcId="{9883CC9F-D411-4CD0-818F-BD9D48F913A7}" destId="{D566F872-0FCE-40CA-9BE6-E868337CBBCB}" srcOrd="0" destOrd="0" presId="urn:microsoft.com/office/officeart/2005/8/layout/process5"/>
    <dgm:cxn modelId="{4E9E7AF1-8DFC-41EA-A600-1A21824B5429}" type="presParOf" srcId="{5AAA78D5-0387-44A9-85A8-0AEAABFCD8B7}" destId="{B7EE8B1D-DF0E-408E-8144-80E81B401F7D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A7A5D-8532-4266-A09D-AA96DB45E6F0}">
      <dsp:nvSpPr>
        <dsp:cNvPr id="0" name=""/>
        <dsp:cNvSpPr/>
      </dsp:nvSpPr>
      <dsp:spPr>
        <a:xfrm>
          <a:off x="13820" y="192897"/>
          <a:ext cx="4130751" cy="24784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n-NO" sz="3000" b="1" kern="1200"/>
            <a:t>Data Awal:</a:t>
          </a:r>
          <a:r>
            <a:rPr lang="nn-NO" sz="3000" kern="1200"/>
            <a:t> Total 3.250 data, didominasi Hoaks (65%) dan Fakta (35%) .</a:t>
          </a:r>
          <a:endParaRPr lang="en-US" sz="3000" kern="1200"/>
        </a:p>
      </dsp:txBody>
      <dsp:txXfrm>
        <a:off x="86411" y="265488"/>
        <a:ext cx="3985569" cy="2333268"/>
      </dsp:txXfrm>
    </dsp:sp>
    <dsp:sp modelId="{2553FD79-A344-4A78-B186-11A345DE0234}">
      <dsp:nvSpPr>
        <dsp:cNvPr id="0" name=""/>
        <dsp:cNvSpPr/>
      </dsp:nvSpPr>
      <dsp:spPr>
        <a:xfrm>
          <a:off x="4508077" y="919909"/>
          <a:ext cx="875719" cy="10244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4508077" y="1124794"/>
        <a:ext cx="613003" cy="614656"/>
      </dsp:txXfrm>
    </dsp:sp>
    <dsp:sp modelId="{0C98F2C0-5236-42A2-80B9-C5B3EC65E6CF}">
      <dsp:nvSpPr>
        <dsp:cNvPr id="0" name=""/>
        <dsp:cNvSpPr/>
      </dsp:nvSpPr>
      <dsp:spPr>
        <a:xfrm>
          <a:off x="5796872" y="192897"/>
          <a:ext cx="4130751" cy="24784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3000" b="1" kern="1200"/>
            <a:t>Proses Penyeimbangan:</a:t>
          </a:r>
          <a:r>
            <a:rPr lang="en-ID" sz="3000" kern="1200"/>
            <a:t> Menggunakan teknik </a:t>
          </a:r>
          <a:r>
            <a:rPr lang="en-ID" sz="3000" i="1" kern="1200"/>
            <a:t>undersampling</a:t>
          </a:r>
          <a:r>
            <a:rPr lang="en-ID" sz="3000" kern="1200"/>
            <a:t> untuk menyamakan jumlah data .</a:t>
          </a:r>
          <a:endParaRPr lang="en-US" sz="3000" kern="1200"/>
        </a:p>
      </dsp:txBody>
      <dsp:txXfrm>
        <a:off x="5869463" y="265488"/>
        <a:ext cx="3985569" cy="2333268"/>
      </dsp:txXfrm>
    </dsp:sp>
    <dsp:sp modelId="{9883CC9F-D411-4CD0-818F-BD9D48F913A7}">
      <dsp:nvSpPr>
        <dsp:cNvPr id="0" name=""/>
        <dsp:cNvSpPr/>
      </dsp:nvSpPr>
      <dsp:spPr>
        <a:xfrm>
          <a:off x="10291129" y="919909"/>
          <a:ext cx="875719" cy="10244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10291129" y="1124794"/>
        <a:ext cx="613003" cy="614656"/>
      </dsp:txXfrm>
    </dsp:sp>
    <dsp:sp modelId="{B7EE8B1D-DF0E-408E-8144-80E81B401F7D}">
      <dsp:nvSpPr>
        <dsp:cNvPr id="0" name=""/>
        <dsp:cNvSpPr/>
      </dsp:nvSpPr>
      <dsp:spPr>
        <a:xfrm>
          <a:off x="11579924" y="192897"/>
          <a:ext cx="4130751" cy="24784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3000" b="1" kern="1200"/>
            <a:t>Hasil Akhir Data Uji: </a:t>
          </a:r>
          <a:r>
            <a:rPr lang="en-ID" sz="3000" kern="1200"/>
            <a:t>Total 2.184 data, dengan komposisi akhir 50% Hoaks (1.092) dan 50% Fakta (1.092) .</a:t>
          </a:r>
          <a:endParaRPr lang="en-US" sz="3000" kern="1200"/>
        </a:p>
      </dsp:txBody>
      <dsp:txXfrm>
        <a:off x="11652515" y="265488"/>
        <a:ext cx="3985569" cy="23332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diagramColors" Target="../diagrams/colors1.xml"/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12" Type="http://schemas.openxmlformats.org/officeDocument/2006/relationships/diagramQuickStyle" Target="../diagrams/quickStyl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diagramLayout" Target="../diagrams/layout1.xml"/><Relationship Id="rId5" Type="http://schemas.openxmlformats.org/officeDocument/2006/relationships/image" Target="../media/image4.svg"/><Relationship Id="rId15" Type="http://schemas.openxmlformats.org/officeDocument/2006/relationships/image" Target="../media/image15.png"/><Relationship Id="rId10" Type="http://schemas.openxmlformats.org/officeDocument/2006/relationships/diagramData" Target="../diagrams/data1.xml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14" Type="http://schemas.microsoft.com/office/2007/relationships/diagramDrawing" Target="../diagrams/drawin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18601" y="4773069"/>
            <a:ext cx="4538797" cy="4538797"/>
          </a:xfrm>
          <a:custGeom>
            <a:avLst/>
            <a:gdLst/>
            <a:ahLst/>
            <a:cxnLst/>
            <a:rect l="l" t="t" r="r" b="b"/>
            <a:pathLst>
              <a:path w="4538797" h="4538797">
                <a:moveTo>
                  <a:pt x="0" y="0"/>
                </a:moveTo>
                <a:lnTo>
                  <a:pt x="4538798" y="0"/>
                </a:lnTo>
                <a:lnTo>
                  <a:pt x="4538798" y="4538797"/>
                </a:lnTo>
                <a:lnTo>
                  <a:pt x="0" y="45387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3" name="Group 3"/>
          <p:cNvGrpSpPr/>
          <p:nvPr/>
        </p:nvGrpSpPr>
        <p:grpSpPr>
          <a:xfrm>
            <a:off x="879400" y="2188449"/>
            <a:ext cx="16834000" cy="4021851"/>
            <a:chOff x="0" y="0"/>
            <a:chExt cx="4433646" cy="10592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33646" cy="1059253"/>
            </a:xfrm>
            <a:custGeom>
              <a:avLst/>
              <a:gdLst/>
              <a:ahLst/>
              <a:cxnLst/>
              <a:rect l="l" t="t" r="r" b="b"/>
              <a:pathLst>
                <a:path w="4433646" h="1059253">
                  <a:moveTo>
                    <a:pt x="0" y="0"/>
                  </a:moveTo>
                  <a:lnTo>
                    <a:pt x="4433646" y="0"/>
                  </a:lnTo>
                  <a:lnTo>
                    <a:pt x="4433646" y="1059253"/>
                  </a:lnTo>
                  <a:lnTo>
                    <a:pt x="0" y="1059253"/>
                  </a:lnTo>
                  <a:close/>
                </a:path>
              </a:pathLst>
            </a:custGeom>
            <a:solidFill>
              <a:srgbClr val="87A3C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4433646" cy="1078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27000" y="2036049"/>
            <a:ext cx="16834000" cy="4021851"/>
            <a:chOff x="0" y="0"/>
            <a:chExt cx="4433646" cy="10592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33646" cy="1059253"/>
            </a:xfrm>
            <a:custGeom>
              <a:avLst/>
              <a:gdLst/>
              <a:ahLst/>
              <a:cxnLst/>
              <a:rect l="l" t="t" r="r" b="b"/>
              <a:pathLst>
                <a:path w="4433646" h="1059253">
                  <a:moveTo>
                    <a:pt x="0" y="0"/>
                  </a:moveTo>
                  <a:lnTo>
                    <a:pt x="4433646" y="0"/>
                  </a:lnTo>
                  <a:lnTo>
                    <a:pt x="4433646" y="1059253"/>
                  </a:lnTo>
                  <a:lnTo>
                    <a:pt x="0" y="1059253"/>
                  </a:lnTo>
                  <a:close/>
                </a:path>
              </a:pathLst>
            </a:custGeom>
            <a:solidFill>
              <a:srgbClr val="B7CADB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4433646" cy="1078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41253" y="2604700"/>
            <a:ext cx="14143882" cy="2897706"/>
            <a:chOff x="0" y="0"/>
            <a:chExt cx="3725138" cy="76318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25138" cy="763182"/>
            </a:xfrm>
            <a:custGeom>
              <a:avLst/>
              <a:gdLst/>
              <a:ahLst/>
              <a:cxnLst/>
              <a:rect l="l" t="t" r="r" b="b"/>
              <a:pathLst>
                <a:path w="3725138" h="763182">
                  <a:moveTo>
                    <a:pt x="0" y="0"/>
                  </a:moveTo>
                  <a:lnTo>
                    <a:pt x="3725138" y="0"/>
                  </a:lnTo>
                  <a:lnTo>
                    <a:pt x="3725138" y="763182"/>
                  </a:lnTo>
                  <a:lnTo>
                    <a:pt x="0" y="763182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725138" cy="801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27502" y="8889689"/>
            <a:ext cx="1427502" cy="1397311"/>
          </a:xfrm>
          <a:custGeom>
            <a:avLst/>
            <a:gdLst/>
            <a:ahLst/>
            <a:cxnLst/>
            <a:rect l="l" t="t" r="r" b="b"/>
            <a:pathLst>
              <a:path w="1427502" h="1397311">
                <a:moveTo>
                  <a:pt x="0" y="0"/>
                </a:moveTo>
                <a:lnTo>
                  <a:pt x="1427503" y="0"/>
                </a:lnTo>
                <a:lnTo>
                  <a:pt x="1427503" y="1397311"/>
                </a:lnTo>
                <a:lnTo>
                  <a:pt x="0" y="1397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96617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3" name="Freeform 13"/>
          <p:cNvSpPr/>
          <p:nvPr/>
        </p:nvSpPr>
        <p:spPr>
          <a:xfrm>
            <a:off x="0" y="7492379"/>
            <a:ext cx="1427502" cy="1397311"/>
          </a:xfrm>
          <a:custGeom>
            <a:avLst/>
            <a:gdLst/>
            <a:ahLst/>
            <a:cxnLst/>
            <a:rect l="l" t="t" r="r" b="b"/>
            <a:pathLst>
              <a:path w="1427502" h="1397311">
                <a:moveTo>
                  <a:pt x="0" y="0"/>
                </a:moveTo>
                <a:lnTo>
                  <a:pt x="1427502" y="0"/>
                </a:lnTo>
                <a:lnTo>
                  <a:pt x="1427502" y="1397310"/>
                </a:lnTo>
                <a:lnTo>
                  <a:pt x="0" y="13973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96617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4" name="Freeform 14"/>
          <p:cNvSpPr/>
          <p:nvPr/>
        </p:nvSpPr>
        <p:spPr>
          <a:xfrm>
            <a:off x="1001919" y="954390"/>
            <a:ext cx="851166" cy="824484"/>
          </a:xfrm>
          <a:custGeom>
            <a:avLst/>
            <a:gdLst/>
            <a:ahLst/>
            <a:cxnLst/>
            <a:rect l="l" t="t" r="r" b="b"/>
            <a:pathLst>
              <a:path w="851166" h="824484">
                <a:moveTo>
                  <a:pt x="0" y="0"/>
                </a:moveTo>
                <a:lnTo>
                  <a:pt x="851166" y="0"/>
                </a:lnTo>
                <a:lnTo>
                  <a:pt x="851166" y="824484"/>
                </a:lnTo>
                <a:lnTo>
                  <a:pt x="0" y="8244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5" name="TextBox 15"/>
          <p:cNvSpPr txBox="1"/>
          <p:nvPr/>
        </p:nvSpPr>
        <p:spPr>
          <a:xfrm>
            <a:off x="2527708" y="2956673"/>
            <a:ext cx="13537384" cy="2310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03"/>
              </a:lnSpc>
            </a:pPr>
            <a:r>
              <a:rPr lang="en-ID" sz="6000" b="1" dirty="0"/>
              <a:t>PENERAPAN SUPPORT VECTOR MACHINE (SVM) UNTUK DETEKSI HOAKS PADA BERITA ONLINE</a:t>
            </a:r>
            <a:endParaRPr lang="en-US" sz="6000" b="1" dirty="0">
              <a:solidFill>
                <a:srgbClr val="000000"/>
              </a:solidFill>
              <a:latin typeface="Nunito Sans Condensed Bold"/>
              <a:ea typeface="Nunito Sans Condensed Bold"/>
              <a:cs typeface="Nunito Sans Condensed Bold"/>
              <a:sym typeface="Nunito Sans Condensed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586890" y="6876323"/>
            <a:ext cx="6693245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RIFKY FACHUZI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29747" y="7458315"/>
            <a:ext cx="4007531" cy="555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Nunito Sans Condensed Light"/>
                <a:ea typeface="Nunito Sans Condensed Light"/>
                <a:cs typeface="Nunito Sans Condensed Light"/>
                <a:sym typeface="Nunito Sans Condensed Light"/>
              </a:rPr>
              <a:t>NIM : 211011401129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86902" y="8603135"/>
            <a:ext cx="7923721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PROGRAM STUDI TEKNIK INFORMATIKA</a:t>
            </a:r>
          </a:p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FAKULTAS ILMU KOMPUTER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848735" y="1191499"/>
            <a:ext cx="6410565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99"/>
              </a:lnSpc>
            </a:pPr>
            <a:r>
              <a:rPr lang="en-US" sz="3499" b="1" spc="209">
                <a:solidFill>
                  <a:srgbClr val="6182A8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SIDANG SKRIPSI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22010" y="944865"/>
            <a:ext cx="3294186" cy="834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48"/>
              </a:lnSpc>
            </a:pPr>
            <a:r>
              <a:rPr lang="en-US" sz="2700" b="1" spc="108">
                <a:solidFill>
                  <a:srgbClr val="6182A8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UNIVERSITAS</a:t>
            </a:r>
          </a:p>
          <a:p>
            <a:pPr algn="just">
              <a:lnSpc>
                <a:spcPts val="3348"/>
              </a:lnSpc>
            </a:pPr>
            <a:r>
              <a:rPr lang="en-US" sz="2700" b="1" spc="108">
                <a:solidFill>
                  <a:srgbClr val="6182A8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PAMULANG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04340" y="9699625"/>
            <a:ext cx="2098370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000000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2025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12665" y="7288445"/>
            <a:ext cx="6693245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ID" sz="4000" dirty="0">
                <a:latin typeface="Nunito Sans Condensed" panose="020B0604020202020204" charset="0"/>
              </a:rPr>
              <a:t>RADITIA VINDUA, </a:t>
            </a:r>
            <a:r>
              <a:rPr lang="en-ID" sz="4000" dirty="0" err="1">
                <a:latin typeface="Nunito Sans Condensed" panose="020B0604020202020204" charset="0"/>
              </a:rPr>
              <a:t>S.Si</a:t>
            </a:r>
            <a:r>
              <a:rPr lang="en-ID" sz="4000" dirty="0">
                <a:latin typeface="Nunito Sans Condensed" panose="020B0604020202020204" charset="0"/>
              </a:rPr>
              <a:t>., </a:t>
            </a:r>
            <a:r>
              <a:rPr lang="en-ID" sz="4000" dirty="0" err="1">
                <a:latin typeface="Nunito Sans Condensed" panose="020B0604020202020204" charset="0"/>
              </a:rPr>
              <a:t>M.Kom</a:t>
            </a:r>
            <a:r>
              <a:rPr lang="en-ID" sz="4000" dirty="0">
                <a:latin typeface="Nunito Sans Condensed" panose="020B0604020202020204" charset="0"/>
              </a:rPr>
              <a:t>.</a:t>
            </a:r>
            <a:endParaRPr lang="en-US" sz="4000" dirty="0">
              <a:solidFill>
                <a:srgbClr val="000000"/>
              </a:solidFill>
              <a:latin typeface="Nunito Sans Condensed" panose="020B0604020202020204" charset="0"/>
              <a:ea typeface="Nunito Sans Condensed"/>
              <a:cs typeface="Nunito Sans Condensed"/>
              <a:sym typeface="Nunito Sans Condense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655522" y="6817275"/>
            <a:ext cx="4007531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Nunito Sans Condensed Light"/>
                <a:ea typeface="Nunito Sans Condensed Light"/>
                <a:cs typeface="Nunito Sans Condensed Light"/>
                <a:sym typeface="Nunito Sans Condensed Light"/>
              </a:rPr>
              <a:t> DOSEN PEMBIMBING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655522" y="7939010"/>
            <a:ext cx="4007531" cy="555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Nunito Sans Condensed Light"/>
                <a:ea typeface="Nunito Sans Condensed Light"/>
                <a:cs typeface="Nunito Sans Condensed Light"/>
                <a:sym typeface="Nunito Sans Condensed Light"/>
              </a:rPr>
              <a:t>NIDN : </a:t>
            </a:r>
            <a:r>
              <a:rPr lang="en-ID" sz="3200" dirty="0">
                <a:latin typeface="Nunito Sans Condensed" panose="020B0604020202020204" charset="0"/>
              </a:rPr>
              <a:t>0428059301</a:t>
            </a:r>
            <a:endParaRPr lang="en-US" sz="3200" dirty="0">
              <a:solidFill>
                <a:srgbClr val="000000"/>
              </a:solidFill>
              <a:latin typeface="Nunito Sans Condensed" panose="020B0604020202020204" charset="0"/>
              <a:ea typeface="Nunito Sans Condensed Light"/>
              <a:cs typeface="Nunito Sans Condensed Light"/>
              <a:sym typeface="Nunito Sans Condensed 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6691" y="8889689"/>
            <a:ext cx="1427502" cy="1397311"/>
          </a:xfrm>
          <a:custGeom>
            <a:avLst/>
            <a:gdLst/>
            <a:ahLst/>
            <a:cxnLst/>
            <a:rect l="l" t="t" r="r" b="b"/>
            <a:pathLst>
              <a:path w="1427502" h="1397311">
                <a:moveTo>
                  <a:pt x="0" y="0"/>
                </a:moveTo>
                <a:lnTo>
                  <a:pt x="1427502" y="0"/>
                </a:lnTo>
                <a:lnTo>
                  <a:pt x="1427502" y="1397311"/>
                </a:lnTo>
                <a:lnTo>
                  <a:pt x="0" y="13973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96617"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3" name="Group 3"/>
          <p:cNvGrpSpPr/>
          <p:nvPr/>
        </p:nvGrpSpPr>
        <p:grpSpPr>
          <a:xfrm>
            <a:off x="467060" y="1196283"/>
            <a:ext cx="17353880" cy="7693406"/>
            <a:chOff x="0" y="0"/>
            <a:chExt cx="4570569" cy="20262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70569" cy="2026247"/>
            </a:xfrm>
            <a:custGeom>
              <a:avLst/>
              <a:gdLst/>
              <a:ahLst/>
              <a:cxnLst/>
              <a:rect l="l" t="t" r="r" b="b"/>
              <a:pathLst>
                <a:path w="4570569" h="2026247">
                  <a:moveTo>
                    <a:pt x="0" y="0"/>
                  </a:moveTo>
                  <a:lnTo>
                    <a:pt x="4570569" y="0"/>
                  </a:lnTo>
                  <a:lnTo>
                    <a:pt x="4570569" y="2026247"/>
                  </a:lnTo>
                  <a:lnTo>
                    <a:pt x="0" y="2026247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4570569" cy="2045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1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050418" y="9049203"/>
            <a:ext cx="770523" cy="77052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182A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45298" y="96161"/>
            <a:ext cx="4997404" cy="950677"/>
            <a:chOff x="0" y="0"/>
            <a:chExt cx="1316189" cy="2503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16189" cy="250384"/>
            </a:xfrm>
            <a:custGeom>
              <a:avLst/>
              <a:gdLst/>
              <a:ahLst/>
              <a:cxnLst/>
              <a:rect l="l" t="t" r="r" b="b"/>
              <a:pathLst>
                <a:path w="1316189" h="250384">
                  <a:moveTo>
                    <a:pt x="0" y="0"/>
                  </a:moveTo>
                  <a:lnTo>
                    <a:pt x="1316189" y="0"/>
                  </a:lnTo>
                  <a:lnTo>
                    <a:pt x="1316189" y="250384"/>
                  </a:lnTo>
                  <a:lnTo>
                    <a:pt x="0" y="250384"/>
                  </a:lnTo>
                  <a:close/>
                </a:path>
              </a:pathLst>
            </a:custGeom>
            <a:solidFill>
              <a:srgbClr val="B7CADB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316189" cy="269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6590938" y="824541"/>
            <a:ext cx="3259524" cy="3259524"/>
          </a:xfrm>
          <a:custGeom>
            <a:avLst/>
            <a:gdLst/>
            <a:ahLst/>
            <a:cxnLst/>
            <a:rect l="l" t="t" r="r" b="b"/>
            <a:pathLst>
              <a:path w="3259524" h="3259524">
                <a:moveTo>
                  <a:pt x="0" y="0"/>
                </a:moveTo>
                <a:lnTo>
                  <a:pt x="3259523" y="0"/>
                </a:lnTo>
                <a:lnTo>
                  <a:pt x="3259523" y="3259524"/>
                </a:lnTo>
                <a:lnTo>
                  <a:pt x="0" y="32595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3" name="Freeform 13"/>
          <p:cNvSpPr/>
          <p:nvPr/>
        </p:nvSpPr>
        <p:spPr>
          <a:xfrm>
            <a:off x="-1803905" y="-127155"/>
            <a:ext cx="4234221" cy="1397311"/>
          </a:xfrm>
          <a:custGeom>
            <a:avLst/>
            <a:gdLst/>
            <a:ahLst/>
            <a:cxnLst/>
            <a:rect l="l" t="t" r="r" b="b"/>
            <a:pathLst>
              <a:path w="4234221" h="1397311">
                <a:moveTo>
                  <a:pt x="0" y="0"/>
                </a:moveTo>
                <a:lnTo>
                  <a:pt x="4234221" y="0"/>
                </a:lnTo>
                <a:lnTo>
                  <a:pt x="4234221" y="1397310"/>
                </a:lnTo>
                <a:lnTo>
                  <a:pt x="0" y="1397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4" name="TextBox 14"/>
          <p:cNvSpPr txBox="1"/>
          <p:nvPr/>
        </p:nvSpPr>
        <p:spPr>
          <a:xfrm>
            <a:off x="6786203" y="114300"/>
            <a:ext cx="4715594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Latar Belakang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3322" y="2189931"/>
            <a:ext cx="14974398" cy="1125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ID" sz="3200" dirty="0" err="1">
                <a:latin typeface="Nunito Sans Condensed" panose="020B0604020202020204" charset="0"/>
              </a:rPr>
              <a:t>Peningkatan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pengguna</a:t>
            </a:r>
            <a:r>
              <a:rPr lang="en-ID" sz="3200" dirty="0">
                <a:latin typeface="Nunito Sans Condensed" panose="020B0604020202020204" charset="0"/>
              </a:rPr>
              <a:t> internet </a:t>
            </a:r>
            <a:r>
              <a:rPr lang="en-ID" sz="3200" dirty="0" err="1">
                <a:latin typeface="Nunito Sans Condensed" panose="020B0604020202020204" charset="0"/>
              </a:rPr>
              <a:t>menyebabkan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penyebaran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disinformasi</a:t>
            </a:r>
            <a:r>
              <a:rPr lang="en-ID" sz="3200" dirty="0">
                <a:latin typeface="Nunito Sans Condensed" panose="020B0604020202020204" charset="0"/>
              </a:rPr>
              <a:t> yang </a:t>
            </a:r>
            <a:r>
              <a:rPr lang="en-ID" sz="3200" dirty="0" err="1">
                <a:latin typeface="Nunito Sans Condensed" panose="020B0604020202020204" charset="0"/>
              </a:rPr>
              <a:t>merusak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stabilitas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sosial</a:t>
            </a:r>
            <a:r>
              <a:rPr lang="en-ID" sz="3200" dirty="0">
                <a:latin typeface="Nunito Sans Condensed" panose="020B0604020202020204" charset="0"/>
              </a:rPr>
              <a:t> dan </a:t>
            </a:r>
            <a:r>
              <a:rPr lang="en-ID" sz="3200" dirty="0" err="1">
                <a:latin typeface="Nunito Sans Condensed" panose="020B0604020202020204" charset="0"/>
              </a:rPr>
              <a:t>kepercayaan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publik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endParaRPr lang="en-US" sz="3200" spc="-217" dirty="0">
              <a:solidFill>
                <a:srgbClr val="000000"/>
              </a:solidFill>
              <a:latin typeface="Nunito Sans Condensed" panose="020B0604020202020204" charset="0"/>
              <a:ea typeface="DM Sans"/>
              <a:cs typeface="DM Sans"/>
              <a:sym typeface="DM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033176" y="9189989"/>
            <a:ext cx="805006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3322" y="1285056"/>
            <a:ext cx="6714516" cy="649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40"/>
              </a:lnSpc>
            </a:pPr>
            <a:r>
              <a:rPr lang="en-ID" sz="4400" b="1" dirty="0" err="1">
                <a:latin typeface="Nunito Sans Condensed" panose="020B0604020202020204" charset="0"/>
              </a:rPr>
              <a:t>Urgensi</a:t>
            </a:r>
            <a:r>
              <a:rPr lang="en-ID" sz="4400" b="1" dirty="0">
                <a:latin typeface="Nunito Sans Condensed" panose="020B0604020202020204" charset="0"/>
              </a:rPr>
              <a:t> </a:t>
            </a:r>
            <a:r>
              <a:rPr lang="en-ID" sz="4400" b="1" dirty="0" err="1">
                <a:latin typeface="Nunito Sans Condensed" panose="020B0604020202020204" charset="0"/>
              </a:rPr>
              <a:t>Masalah</a:t>
            </a:r>
            <a:endParaRPr lang="en-US" sz="4200" b="1" dirty="0">
              <a:solidFill>
                <a:srgbClr val="000000"/>
              </a:solidFill>
              <a:latin typeface="Nunito Sans Condensed" panose="020B0604020202020204" charset="0"/>
              <a:ea typeface="Nunito Sans Condensed Bold"/>
              <a:cs typeface="Nunito Sans Condensed Bold"/>
              <a:sym typeface="Nunito Sans Condensed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13322" y="3552993"/>
            <a:ext cx="6226974" cy="649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40"/>
              </a:lnSpc>
            </a:pPr>
            <a:r>
              <a:rPr lang="en-ID" sz="4400" b="1" dirty="0" err="1">
                <a:latin typeface="Nunito Sans Condensed" panose="020B0604020202020204" charset="0"/>
              </a:rPr>
              <a:t>Keterbatasan</a:t>
            </a:r>
            <a:r>
              <a:rPr lang="en-ID" sz="4400" b="1" dirty="0">
                <a:latin typeface="Nunito Sans Condensed" panose="020B0604020202020204" charset="0"/>
              </a:rPr>
              <a:t> Manual</a:t>
            </a:r>
            <a:endParaRPr lang="en-US" sz="4200" b="1" dirty="0">
              <a:solidFill>
                <a:srgbClr val="000000"/>
              </a:solidFill>
              <a:latin typeface="Nunito Sans Condensed" panose="020B0604020202020204" charset="0"/>
              <a:ea typeface="Nunito Sans Condensed Bold"/>
              <a:cs typeface="Nunito Sans Condensed Bold"/>
              <a:sym typeface="Nunito Sans Condensed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13322" y="4124493"/>
            <a:ext cx="14974398" cy="1702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ID" sz="3200" dirty="0" err="1">
                <a:latin typeface="Nunito Sans Condensed" panose="020B0604020202020204" charset="0"/>
              </a:rPr>
              <a:t>Verifikasi</a:t>
            </a:r>
            <a:r>
              <a:rPr lang="en-ID" sz="3200" dirty="0">
                <a:latin typeface="Nunito Sans Condensed" panose="020B0604020202020204" charset="0"/>
              </a:rPr>
              <a:t> manual </a:t>
            </a:r>
            <a:r>
              <a:rPr lang="en-ID" sz="3200" dirty="0" err="1">
                <a:latin typeface="Nunito Sans Condensed" panose="020B0604020202020204" charset="0"/>
              </a:rPr>
              <a:t>tidak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mampu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mengimbangi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kecepatan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penyebaran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berita</a:t>
            </a:r>
            <a:r>
              <a:rPr lang="en-ID" sz="3200" dirty="0">
                <a:latin typeface="Nunito Sans Condensed" panose="020B0604020202020204" charset="0"/>
              </a:rPr>
              <a:t> online.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ID" sz="3200" dirty="0" err="1">
                <a:latin typeface="Nunito Sans Condensed" panose="020B0604020202020204" charset="0"/>
              </a:rPr>
              <a:t>Sistem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verifikasi</a:t>
            </a:r>
            <a:r>
              <a:rPr lang="en-ID" sz="3200" dirty="0">
                <a:latin typeface="Nunito Sans Condensed" panose="020B0604020202020204" charset="0"/>
              </a:rPr>
              <a:t> manual, yang </a:t>
            </a:r>
            <a:r>
              <a:rPr lang="en-ID" sz="3200" dirty="0" err="1">
                <a:latin typeface="Nunito Sans Condensed" panose="020B0604020202020204" charset="0"/>
              </a:rPr>
              <a:t>mengandalkan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tenaga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manusia</a:t>
            </a:r>
            <a:r>
              <a:rPr lang="en-ID" sz="3200" dirty="0">
                <a:latin typeface="Nunito Sans Condensed" panose="020B0604020202020204" charset="0"/>
              </a:rPr>
              <a:t>, </a:t>
            </a:r>
            <a:r>
              <a:rPr lang="en-ID" sz="3200" dirty="0" err="1">
                <a:latin typeface="Nunito Sans Condensed" panose="020B0604020202020204" charset="0"/>
              </a:rPr>
              <a:t>menjadi</a:t>
            </a:r>
            <a:r>
              <a:rPr lang="en-ID" sz="3200" dirty="0">
                <a:latin typeface="Nunito Sans Condensed" panose="020B0604020202020204" charset="0"/>
              </a:rPr>
              <a:t> sangat </a:t>
            </a:r>
            <a:r>
              <a:rPr lang="en-ID" sz="3200" dirty="0" err="1">
                <a:latin typeface="Nunito Sans Condensed" panose="020B0604020202020204" charset="0"/>
              </a:rPr>
              <a:t>lambat</a:t>
            </a:r>
            <a:r>
              <a:rPr lang="en-ID" sz="3200" dirty="0">
                <a:latin typeface="Nunito Sans Condensed" panose="020B0604020202020204" charset="0"/>
              </a:rPr>
              <a:t> dan </a:t>
            </a:r>
            <a:r>
              <a:rPr lang="en-ID" sz="3200" dirty="0" err="1">
                <a:latin typeface="Nunito Sans Condensed" panose="020B0604020202020204" charset="0"/>
              </a:rPr>
              <a:t>tidak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efisien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untuk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menangani</a:t>
            </a:r>
            <a:r>
              <a:rPr lang="en-ID" sz="3200" dirty="0">
                <a:latin typeface="Nunito Sans Condensed" panose="020B0604020202020204" charset="0"/>
              </a:rPr>
              <a:t> volume data </a:t>
            </a:r>
            <a:r>
              <a:rPr lang="en-ID" sz="3200" dirty="0" err="1">
                <a:latin typeface="Nunito Sans Condensed" panose="020B0604020202020204" charset="0"/>
              </a:rPr>
              <a:t>berita</a:t>
            </a:r>
            <a:r>
              <a:rPr lang="en-ID" sz="3200" dirty="0">
                <a:latin typeface="Nunito Sans Condensed" panose="020B0604020202020204" charset="0"/>
              </a:rPr>
              <a:t> yang </a:t>
            </a:r>
            <a:r>
              <a:rPr lang="en-ID" sz="3200" dirty="0" err="1">
                <a:latin typeface="Nunito Sans Condensed" panose="020B0604020202020204" charset="0"/>
              </a:rPr>
              <a:t>masif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setiap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harinya</a:t>
            </a:r>
            <a:r>
              <a:rPr lang="en-ID" sz="3200" dirty="0">
                <a:latin typeface="Nunito Sans Condensed" panose="020B0604020202020204" charset="0"/>
              </a:rPr>
              <a:t>. </a:t>
            </a:r>
            <a:endParaRPr lang="en-US" sz="3200" spc="-217" dirty="0">
              <a:solidFill>
                <a:srgbClr val="000000"/>
              </a:solidFill>
              <a:latin typeface="Nunito Sans Condensed" panose="020B0604020202020204" charset="0"/>
              <a:ea typeface="DM Sans"/>
              <a:cs typeface="DM Sans"/>
              <a:sym typeface="DM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13322" y="6052988"/>
            <a:ext cx="5008119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dirty="0">
                <a:solidFill>
                  <a:srgbClr val="000000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Solusi yang </a:t>
            </a:r>
            <a:r>
              <a:rPr lang="en-US" sz="4200" b="1" dirty="0" err="1">
                <a:solidFill>
                  <a:srgbClr val="000000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Diusulkan</a:t>
            </a:r>
            <a:endParaRPr lang="en-US" sz="4200" b="1" dirty="0">
              <a:solidFill>
                <a:srgbClr val="000000"/>
              </a:solidFill>
              <a:latin typeface="Nunito Sans Condensed Bold"/>
              <a:ea typeface="Nunito Sans Condensed Bold"/>
              <a:cs typeface="Nunito Sans Condensed Bold"/>
              <a:sym typeface="Nunito Sans Condensed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13322" y="6624488"/>
            <a:ext cx="16645978" cy="22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ID" sz="3200" dirty="0" err="1">
                <a:latin typeface="Nunito Sans Condensed" panose="020B0604020202020204" charset="0"/>
              </a:rPr>
              <a:t>Penerapan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i="1" dirty="0">
                <a:latin typeface="Nunito Sans Condensed" panose="020B0604020202020204" charset="0"/>
              </a:rPr>
              <a:t>Machine Learning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untuk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Otomatisasi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Deteksi</a:t>
            </a:r>
            <a:r>
              <a:rPr lang="en-ID" sz="3200" dirty="0">
                <a:latin typeface="Nunito Sans Condensed" panose="020B0604020202020204" charset="0"/>
              </a:rPr>
              <a:t> Hoaks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ID" sz="3200" dirty="0" err="1">
                <a:latin typeface="Nunito Sans Condensed" panose="020B0604020202020204" charset="0"/>
              </a:rPr>
              <a:t>Pemanfaatan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Algoritma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i="1" dirty="0">
                <a:latin typeface="Nunito Sans Condensed" panose="020B0604020202020204" charset="0"/>
              </a:rPr>
              <a:t>Support Vector Machine </a:t>
            </a:r>
            <a:r>
              <a:rPr lang="en-ID" sz="3200" dirty="0">
                <a:latin typeface="Nunito Sans Condensed" panose="020B0604020202020204" charset="0"/>
              </a:rPr>
              <a:t>(SVM)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ID" sz="3200" dirty="0" err="1">
                <a:latin typeface="Nunito Sans Condensed" panose="020B0604020202020204" charset="0"/>
              </a:rPr>
              <a:t>Representasi</a:t>
            </a:r>
            <a:r>
              <a:rPr lang="en-ID" sz="3200" dirty="0">
                <a:latin typeface="Nunito Sans Condensed" panose="020B0604020202020204" charset="0"/>
              </a:rPr>
              <a:t> Teks </a:t>
            </a:r>
            <a:r>
              <a:rPr lang="en-ID" sz="3200" dirty="0" err="1">
                <a:latin typeface="Nunito Sans Condensed" panose="020B0604020202020204" charset="0"/>
              </a:rPr>
              <a:t>Menggunakan</a:t>
            </a:r>
            <a:r>
              <a:rPr lang="en-ID" sz="3200" dirty="0">
                <a:latin typeface="Nunito Sans Condensed" panose="020B0604020202020204" charset="0"/>
              </a:rPr>
              <a:t> TF-IDF (</a:t>
            </a:r>
            <a:r>
              <a:rPr lang="en-ID" sz="3200" i="1" dirty="0">
                <a:latin typeface="Nunito Sans Condensed" panose="020B0604020202020204" charset="0"/>
              </a:rPr>
              <a:t>Term Frequency–Inverse Document Frequency</a:t>
            </a:r>
            <a:r>
              <a:rPr lang="en-ID" sz="3200" dirty="0">
                <a:latin typeface="Nunito Sans Condensed" panose="020B0604020202020204" charset="0"/>
              </a:rPr>
              <a:t>)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ID" sz="3200" dirty="0" err="1">
                <a:latin typeface="Nunito Sans Condensed" panose="020B0604020202020204" charset="0"/>
              </a:rPr>
              <a:t>Eksperimen</a:t>
            </a:r>
            <a:r>
              <a:rPr lang="en-ID" sz="3200" dirty="0">
                <a:latin typeface="Nunito Sans Condensed" panose="020B0604020202020204" charset="0"/>
              </a:rPr>
              <a:t> dan </a:t>
            </a:r>
            <a:r>
              <a:rPr lang="en-ID" sz="3200" dirty="0" err="1">
                <a:latin typeface="Nunito Sans Condensed" panose="020B0604020202020204" charset="0"/>
              </a:rPr>
              <a:t>Evaluasi</a:t>
            </a:r>
            <a:r>
              <a:rPr lang="en-ID" sz="3200" dirty="0">
                <a:latin typeface="Nunito Sans Condensed" panose="020B0604020202020204" charset="0"/>
              </a:rPr>
              <a:t> Model</a:t>
            </a:r>
            <a:endParaRPr lang="en-US" sz="3200" spc="-217" dirty="0">
              <a:solidFill>
                <a:srgbClr val="000000"/>
              </a:solidFill>
              <a:latin typeface="Nunito Sans Condensed" panose="020B0604020202020204" charset="0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7659" y="2796652"/>
            <a:ext cx="15148798" cy="1636071"/>
            <a:chOff x="0" y="0"/>
            <a:chExt cx="3989807" cy="4308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89807" cy="430899"/>
            </a:xfrm>
            <a:custGeom>
              <a:avLst/>
              <a:gdLst/>
              <a:ahLst/>
              <a:cxnLst/>
              <a:rect l="l" t="t" r="r" b="b"/>
              <a:pathLst>
                <a:path w="3989807" h="430899">
                  <a:moveTo>
                    <a:pt x="0" y="0"/>
                  </a:moveTo>
                  <a:lnTo>
                    <a:pt x="3989807" y="0"/>
                  </a:lnTo>
                  <a:lnTo>
                    <a:pt x="3989807" y="430899"/>
                  </a:lnTo>
                  <a:lnTo>
                    <a:pt x="0" y="430899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3989807" cy="449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050418" y="9049203"/>
            <a:ext cx="770523" cy="77052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182A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5792" y="114300"/>
            <a:ext cx="6067559" cy="914400"/>
            <a:chOff x="0" y="0"/>
            <a:chExt cx="1598040" cy="2408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98040" cy="240830"/>
            </a:xfrm>
            <a:custGeom>
              <a:avLst/>
              <a:gdLst/>
              <a:ahLst/>
              <a:cxnLst/>
              <a:rect l="l" t="t" r="r" b="b"/>
              <a:pathLst>
                <a:path w="1598040" h="240830">
                  <a:moveTo>
                    <a:pt x="0" y="0"/>
                  </a:moveTo>
                  <a:lnTo>
                    <a:pt x="1598040" y="0"/>
                  </a:lnTo>
                  <a:lnTo>
                    <a:pt x="1598040" y="240830"/>
                  </a:lnTo>
                  <a:lnTo>
                    <a:pt x="0" y="240830"/>
                  </a:lnTo>
                  <a:close/>
                </a:path>
              </a:pathLst>
            </a:custGeom>
            <a:solidFill>
              <a:srgbClr val="B7CADB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598040" cy="2598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flipH="1">
            <a:off x="-469123" y="8277787"/>
            <a:ext cx="3513563" cy="3513563"/>
          </a:xfrm>
          <a:custGeom>
            <a:avLst/>
            <a:gdLst/>
            <a:ahLst/>
            <a:cxnLst/>
            <a:rect l="l" t="t" r="r" b="b"/>
            <a:pathLst>
              <a:path w="3513563" h="3513563">
                <a:moveTo>
                  <a:pt x="3513564" y="0"/>
                </a:moveTo>
                <a:lnTo>
                  <a:pt x="0" y="0"/>
                </a:lnTo>
                <a:lnTo>
                  <a:pt x="0" y="3513563"/>
                </a:lnTo>
                <a:lnTo>
                  <a:pt x="3513564" y="3513563"/>
                </a:lnTo>
                <a:lnTo>
                  <a:pt x="35135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12" name="Group 12"/>
          <p:cNvGrpSpPr/>
          <p:nvPr/>
        </p:nvGrpSpPr>
        <p:grpSpPr>
          <a:xfrm>
            <a:off x="466247" y="3047989"/>
            <a:ext cx="1052252" cy="1052252"/>
            <a:chOff x="0" y="0"/>
            <a:chExt cx="1403003" cy="1403003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403003" cy="1403003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182A8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53696" y="294450"/>
              <a:ext cx="1295611" cy="7641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99"/>
                </a:lnSpc>
              </a:pPr>
              <a:r>
                <a:rPr lang="en-US" sz="3499" b="1" dirty="0">
                  <a:solidFill>
                    <a:srgbClr val="FFFFFF"/>
                  </a:solidFill>
                  <a:latin typeface="Nunito Sans Condensed Bold"/>
                  <a:ea typeface="Nunito Sans Condensed Bold"/>
                  <a:cs typeface="Nunito Sans Condensed Bold"/>
                  <a:sym typeface="Nunito Sans Condensed Bold"/>
                </a:rPr>
                <a:t>01.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688270" y="3080017"/>
            <a:ext cx="14748188" cy="1035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60"/>
              </a:lnSpc>
            </a:pPr>
            <a:r>
              <a:rPr lang="en-ID" sz="3200" dirty="0" err="1">
                <a:latin typeface="Nunito Sans Condensed" panose="020B0604020202020204" charset="0"/>
              </a:rPr>
              <a:t>Bagaimana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menerapkan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algoritma</a:t>
            </a:r>
            <a:r>
              <a:rPr lang="en-ID" sz="3200" dirty="0">
                <a:latin typeface="Nunito Sans Condensed" panose="020B0604020202020204" charset="0"/>
              </a:rPr>
              <a:t> Support Vector Machine (SVM) </a:t>
            </a:r>
            <a:r>
              <a:rPr lang="en-ID" sz="3200" dirty="0" err="1">
                <a:latin typeface="Nunito Sans Condensed" panose="020B0604020202020204" charset="0"/>
              </a:rPr>
              <a:t>untuk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membangun</a:t>
            </a:r>
            <a:r>
              <a:rPr lang="en-ID" sz="3200" dirty="0">
                <a:latin typeface="Nunito Sans Condensed" panose="020B0604020202020204" charset="0"/>
              </a:rPr>
              <a:t> model </a:t>
            </a:r>
            <a:r>
              <a:rPr lang="en-ID" sz="3200" dirty="0" err="1">
                <a:latin typeface="Nunito Sans Condensed" panose="020B0604020202020204" charset="0"/>
              </a:rPr>
              <a:t>klasifikasi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hoaks</a:t>
            </a:r>
            <a:r>
              <a:rPr lang="en-ID" sz="3200" dirty="0">
                <a:latin typeface="Nunito Sans Condensed" panose="020B0604020202020204" charset="0"/>
              </a:rPr>
              <a:t> pada </a:t>
            </a:r>
            <a:r>
              <a:rPr lang="en-ID" sz="3200" dirty="0" err="1">
                <a:latin typeface="Nunito Sans Condensed" panose="020B0604020202020204" charset="0"/>
              </a:rPr>
              <a:t>berita</a:t>
            </a:r>
            <a:r>
              <a:rPr lang="en-ID" sz="3200" dirty="0">
                <a:latin typeface="Nunito Sans Condensed" panose="020B0604020202020204" charset="0"/>
              </a:rPr>
              <a:t> online </a:t>
            </a:r>
            <a:r>
              <a:rPr lang="en-ID" sz="3200" dirty="0" err="1">
                <a:latin typeface="Nunito Sans Condensed" panose="020B0604020202020204" charset="0"/>
              </a:rPr>
              <a:t>berbahasa</a:t>
            </a:r>
            <a:r>
              <a:rPr lang="en-ID" sz="3200" dirty="0">
                <a:latin typeface="Nunito Sans Condensed" panose="020B0604020202020204" charset="0"/>
              </a:rPr>
              <a:t> Indonesia? </a:t>
            </a:r>
            <a:endParaRPr lang="en-US" sz="2900" dirty="0">
              <a:solidFill>
                <a:srgbClr val="000000"/>
              </a:solidFill>
              <a:latin typeface="Nunito Sans Condensed" panose="020B0604020202020204" charset="0"/>
              <a:ea typeface="DM Sans"/>
              <a:cs typeface="DM Sans"/>
              <a:sym typeface="DM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7033176" y="9189989"/>
            <a:ext cx="805006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76658" y="114300"/>
            <a:ext cx="5617547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 err="1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Rumusan</a:t>
            </a:r>
            <a:r>
              <a:rPr lang="en-US" sz="6000" dirty="0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 </a:t>
            </a:r>
            <a:r>
              <a:rPr lang="en-US" sz="6000" dirty="0" err="1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Masalah</a:t>
            </a:r>
            <a:endParaRPr lang="en-US" sz="6000" dirty="0">
              <a:solidFill>
                <a:srgbClr val="000000"/>
              </a:solidFill>
              <a:latin typeface="Nunito Sans Condensed"/>
              <a:ea typeface="Nunito Sans Condensed"/>
              <a:cs typeface="Nunito Sans Condensed"/>
              <a:sym typeface="Nunito Sans Condensed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16436457" y="-368611"/>
            <a:ext cx="4234221" cy="1397311"/>
          </a:xfrm>
          <a:custGeom>
            <a:avLst/>
            <a:gdLst/>
            <a:ahLst/>
            <a:cxnLst/>
            <a:rect l="l" t="t" r="r" b="b"/>
            <a:pathLst>
              <a:path w="4234221" h="1397311">
                <a:moveTo>
                  <a:pt x="0" y="0"/>
                </a:moveTo>
                <a:lnTo>
                  <a:pt x="4234221" y="0"/>
                </a:lnTo>
                <a:lnTo>
                  <a:pt x="4234221" y="1397311"/>
                </a:lnTo>
                <a:lnTo>
                  <a:pt x="0" y="1397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21" name="Group 21"/>
          <p:cNvGrpSpPr/>
          <p:nvPr/>
        </p:nvGrpSpPr>
        <p:grpSpPr>
          <a:xfrm>
            <a:off x="1287659" y="6057818"/>
            <a:ext cx="15148798" cy="1636071"/>
            <a:chOff x="0" y="0"/>
            <a:chExt cx="3989807" cy="43089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989807" cy="430899"/>
            </a:xfrm>
            <a:custGeom>
              <a:avLst/>
              <a:gdLst/>
              <a:ahLst/>
              <a:cxnLst/>
              <a:rect l="l" t="t" r="r" b="b"/>
              <a:pathLst>
                <a:path w="3989807" h="430899">
                  <a:moveTo>
                    <a:pt x="0" y="0"/>
                  </a:moveTo>
                  <a:lnTo>
                    <a:pt x="3989807" y="0"/>
                  </a:lnTo>
                  <a:lnTo>
                    <a:pt x="3989807" y="430899"/>
                  </a:lnTo>
                  <a:lnTo>
                    <a:pt x="0" y="430899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3989807" cy="449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66247" y="6309156"/>
            <a:ext cx="1052252" cy="1052252"/>
            <a:chOff x="0" y="0"/>
            <a:chExt cx="1403003" cy="1403003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1403003" cy="1403003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182A8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53696" y="294450"/>
              <a:ext cx="1295611" cy="7641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99"/>
                </a:lnSpc>
              </a:pPr>
              <a:r>
                <a:rPr lang="en-US" sz="3499" b="1" dirty="0">
                  <a:solidFill>
                    <a:srgbClr val="FFFFFF"/>
                  </a:solidFill>
                  <a:latin typeface="Nunito Sans Condensed Bold"/>
                  <a:ea typeface="Nunito Sans Condensed Bold"/>
                  <a:cs typeface="Nunito Sans Condensed Bold"/>
                  <a:sym typeface="Nunito Sans Condensed Bold"/>
                </a:rPr>
                <a:t>02.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688270" y="6245911"/>
            <a:ext cx="14748188" cy="1035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60"/>
              </a:lnSpc>
            </a:pPr>
            <a:r>
              <a:rPr lang="en-ID" sz="3200" dirty="0" err="1">
                <a:latin typeface="Nunito Sans Condensed" panose="020B0604020202020204" charset="0"/>
              </a:rPr>
              <a:t>Bagaimana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performa</a:t>
            </a:r>
            <a:r>
              <a:rPr lang="en-ID" sz="3200" dirty="0">
                <a:latin typeface="Nunito Sans Condensed" panose="020B0604020202020204" charset="0"/>
              </a:rPr>
              <a:t> model </a:t>
            </a:r>
            <a:r>
              <a:rPr lang="en-ID" sz="3200" dirty="0" err="1">
                <a:latin typeface="Nunito Sans Condensed" panose="020B0604020202020204" charset="0"/>
              </a:rPr>
              <a:t>klasifikasi</a:t>
            </a:r>
            <a:r>
              <a:rPr lang="en-ID" sz="3200" dirty="0">
                <a:latin typeface="Nunito Sans Condensed" panose="020B0604020202020204" charset="0"/>
              </a:rPr>
              <a:t> Support Vector Machine (SVM) </a:t>
            </a:r>
            <a:r>
              <a:rPr lang="en-ID" sz="3200" dirty="0" err="1">
                <a:latin typeface="Nunito Sans Condensed" panose="020B0604020202020204" charset="0"/>
              </a:rPr>
              <a:t>dalam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mendeteksi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berita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hoaks</a:t>
            </a:r>
            <a:r>
              <a:rPr lang="en-ID" sz="3200" dirty="0">
                <a:latin typeface="Nunito Sans Condensed" panose="020B0604020202020204" charset="0"/>
              </a:rPr>
              <a:t> yang </a:t>
            </a:r>
            <a:r>
              <a:rPr lang="en-ID" sz="3200" dirty="0" err="1">
                <a:latin typeface="Nunito Sans Condensed" panose="020B0604020202020204" charset="0"/>
              </a:rPr>
              <a:t>diukur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menggunakan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metrik</a:t>
            </a:r>
            <a:r>
              <a:rPr lang="en-ID" sz="3200" dirty="0">
                <a:latin typeface="Nunito Sans Condensed" panose="020B0604020202020204" charset="0"/>
              </a:rPr>
              <a:t> accuracy, precision, dan recall?</a:t>
            </a:r>
            <a:endParaRPr lang="en-US" sz="2900" dirty="0">
              <a:solidFill>
                <a:srgbClr val="000000"/>
              </a:solidFill>
              <a:latin typeface="Nunito Sans Condensed" panose="020B0604020202020204" charset="0"/>
              <a:ea typeface="DM Sans"/>
              <a:cs typeface="DM Sans"/>
              <a:sym typeface="DM Sans"/>
            </a:endParaRPr>
          </a:p>
        </p:txBody>
      </p:sp>
      <p:grpSp>
        <p:nvGrpSpPr>
          <p:cNvPr id="33" name="Group 33"/>
          <p:cNvGrpSpPr/>
          <p:nvPr/>
        </p:nvGrpSpPr>
        <p:grpSpPr>
          <a:xfrm>
            <a:off x="506519" y="6594072"/>
            <a:ext cx="971708" cy="904279"/>
            <a:chOff x="53696" y="65765"/>
            <a:chExt cx="1295611" cy="1205706"/>
          </a:xfrm>
        </p:grpSpPr>
        <p:sp>
          <p:nvSpPr>
            <p:cNvPr id="36" name="TextBox 36"/>
            <p:cNvSpPr txBox="1"/>
            <p:nvPr/>
          </p:nvSpPr>
          <p:spPr>
            <a:xfrm>
              <a:off x="131532" y="65765"/>
              <a:ext cx="1139940" cy="12057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3696" y="294449"/>
              <a:ext cx="1295611" cy="8079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99"/>
                </a:lnSpc>
              </a:pPr>
              <a:endParaRPr lang="en-US" sz="3499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D7796F-395D-E202-9447-815EAC4FB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8F6F128-A572-CE35-9F8C-66B8E9CA06BE}"/>
              </a:ext>
            </a:extLst>
          </p:cNvPr>
          <p:cNvGrpSpPr/>
          <p:nvPr/>
        </p:nvGrpSpPr>
        <p:grpSpPr>
          <a:xfrm>
            <a:off x="1287659" y="2796652"/>
            <a:ext cx="15148798" cy="1636071"/>
            <a:chOff x="0" y="0"/>
            <a:chExt cx="3989807" cy="4308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674AF52-842C-1463-BD68-0C75D2E181C3}"/>
                </a:ext>
              </a:extLst>
            </p:cNvPr>
            <p:cNvSpPr/>
            <p:nvPr/>
          </p:nvSpPr>
          <p:spPr>
            <a:xfrm>
              <a:off x="0" y="0"/>
              <a:ext cx="3989807" cy="430899"/>
            </a:xfrm>
            <a:custGeom>
              <a:avLst/>
              <a:gdLst/>
              <a:ahLst/>
              <a:cxnLst/>
              <a:rect l="l" t="t" r="r" b="b"/>
              <a:pathLst>
                <a:path w="3989807" h="430899">
                  <a:moveTo>
                    <a:pt x="0" y="0"/>
                  </a:moveTo>
                  <a:lnTo>
                    <a:pt x="3989807" y="0"/>
                  </a:lnTo>
                  <a:lnTo>
                    <a:pt x="3989807" y="430899"/>
                  </a:lnTo>
                  <a:lnTo>
                    <a:pt x="0" y="430899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D685374-3DCE-3417-3C3A-ACEDDD68963F}"/>
                </a:ext>
              </a:extLst>
            </p:cNvPr>
            <p:cNvSpPr txBox="1"/>
            <p:nvPr/>
          </p:nvSpPr>
          <p:spPr>
            <a:xfrm>
              <a:off x="0" y="-19050"/>
              <a:ext cx="3989807" cy="449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B9C8F72-7C9C-3927-3052-5CFCE541B7FE}"/>
              </a:ext>
            </a:extLst>
          </p:cNvPr>
          <p:cNvGrpSpPr/>
          <p:nvPr/>
        </p:nvGrpSpPr>
        <p:grpSpPr>
          <a:xfrm>
            <a:off x="17050418" y="9049203"/>
            <a:ext cx="770523" cy="77052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BBED241-8F6D-8C72-EF9E-A35BF84E1C0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182A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BEAE6A5-849E-6476-44FD-F321A6D83E8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EBD5854D-514B-7140-0D52-9C3EC2E0933A}"/>
              </a:ext>
            </a:extLst>
          </p:cNvPr>
          <p:cNvGrpSpPr/>
          <p:nvPr/>
        </p:nvGrpSpPr>
        <p:grpSpPr>
          <a:xfrm>
            <a:off x="5530334" y="652184"/>
            <a:ext cx="6067559" cy="914400"/>
            <a:chOff x="0" y="0"/>
            <a:chExt cx="1598040" cy="24083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E436FAE-6C44-8997-7238-477620348398}"/>
                </a:ext>
              </a:extLst>
            </p:cNvPr>
            <p:cNvSpPr/>
            <p:nvPr/>
          </p:nvSpPr>
          <p:spPr>
            <a:xfrm>
              <a:off x="0" y="0"/>
              <a:ext cx="1598040" cy="240830"/>
            </a:xfrm>
            <a:custGeom>
              <a:avLst/>
              <a:gdLst/>
              <a:ahLst/>
              <a:cxnLst/>
              <a:rect l="l" t="t" r="r" b="b"/>
              <a:pathLst>
                <a:path w="1598040" h="240830">
                  <a:moveTo>
                    <a:pt x="0" y="0"/>
                  </a:moveTo>
                  <a:lnTo>
                    <a:pt x="1598040" y="0"/>
                  </a:lnTo>
                  <a:lnTo>
                    <a:pt x="1598040" y="240830"/>
                  </a:lnTo>
                  <a:lnTo>
                    <a:pt x="0" y="240830"/>
                  </a:lnTo>
                  <a:close/>
                </a:path>
              </a:pathLst>
            </a:custGeom>
            <a:solidFill>
              <a:srgbClr val="B7CADB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3A5855E9-3F2B-0FF3-E4F0-464F186AD768}"/>
                </a:ext>
              </a:extLst>
            </p:cNvPr>
            <p:cNvSpPr txBox="1"/>
            <p:nvPr/>
          </p:nvSpPr>
          <p:spPr>
            <a:xfrm>
              <a:off x="0" y="-19050"/>
              <a:ext cx="1598040" cy="2598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EEA2CAA8-212B-F7D5-0873-92ED06F51354}"/>
              </a:ext>
            </a:extLst>
          </p:cNvPr>
          <p:cNvSpPr/>
          <p:nvPr/>
        </p:nvSpPr>
        <p:spPr>
          <a:xfrm flipH="1">
            <a:off x="-469123" y="8277787"/>
            <a:ext cx="3513563" cy="3513563"/>
          </a:xfrm>
          <a:custGeom>
            <a:avLst/>
            <a:gdLst/>
            <a:ahLst/>
            <a:cxnLst/>
            <a:rect l="l" t="t" r="r" b="b"/>
            <a:pathLst>
              <a:path w="3513563" h="3513563">
                <a:moveTo>
                  <a:pt x="3513564" y="0"/>
                </a:moveTo>
                <a:lnTo>
                  <a:pt x="0" y="0"/>
                </a:lnTo>
                <a:lnTo>
                  <a:pt x="0" y="3513563"/>
                </a:lnTo>
                <a:lnTo>
                  <a:pt x="3513564" y="3513563"/>
                </a:lnTo>
                <a:lnTo>
                  <a:pt x="35135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127F154B-8C09-37C0-0DBF-4EFA41191980}"/>
              </a:ext>
            </a:extLst>
          </p:cNvPr>
          <p:cNvGrpSpPr/>
          <p:nvPr/>
        </p:nvGrpSpPr>
        <p:grpSpPr>
          <a:xfrm>
            <a:off x="466247" y="3047989"/>
            <a:ext cx="1052252" cy="1052252"/>
            <a:chOff x="0" y="0"/>
            <a:chExt cx="1403003" cy="1403003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F4EC6B04-1D3C-3DEE-A093-E0AA34E4C5CD}"/>
                </a:ext>
              </a:extLst>
            </p:cNvPr>
            <p:cNvGrpSpPr/>
            <p:nvPr/>
          </p:nvGrpSpPr>
          <p:grpSpPr>
            <a:xfrm>
              <a:off x="0" y="0"/>
              <a:ext cx="1403003" cy="1403003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82458670-9BA5-A2B9-5FD8-CA510DF9131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182A8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5AEBB579-1A39-03E2-7F15-304ECFF0FD1E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37200CA8-05FB-5C03-3837-5BA7628CFEDF}"/>
                </a:ext>
              </a:extLst>
            </p:cNvPr>
            <p:cNvSpPr txBox="1"/>
            <p:nvPr/>
          </p:nvSpPr>
          <p:spPr>
            <a:xfrm>
              <a:off x="53696" y="294450"/>
              <a:ext cx="1295611" cy="7641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99"/>
                </a:lnSpc>
              </a:pPr>
              <a:r>
                <a:rPr lang="en-US" sz="3499" b="1" dirty="0">
                  <a:solidFill>
                    <a:srgbClr val="FFFFFF"/>
                  </a:solidFill>
                  <a:latin typeface="Nunito Sans Condensed Bold"/>
                  <a:ea typeface="Nunito Sans Condensed Bold"/>
                  <a:cs typeface="Nunito Sans Condensed Bold"/>
                  <a:sym typeface="Nunito Sans Condensed Bold"/>
                </a:rPr>
                <a:t>01.</a:t>
              </a:r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4D35657E-AA5A-87A7-AA03-33B8D4D46207}"/>
              </a:ext>
            </a:extLst>
          </p:cNvPr>
          <p:cNvSpPr txBox="1"/>
          <p:nvPr/>
        </p:nvSpPr>
        <p:spPr>
          <a:xfrm>
            <a:off x="1600200" y="2890964"/>
            <a:ext cx="14748188" cy="1490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ID" sz="3200" dirty="0" err="1">
                <a:latin typeface="Nunito Sans Condensed" panose="020B0604020202020204" charset="0"/>
              </a:rPr>
              <a:t>Menerapkan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algoritma</a:t>
            </a:r>
            <a:r>
              <a:rPr lang="en-ID" sz="3200" dirty="0">
                <a:latin typeface="Nunito Sans Condensed" panose="020B0604020202020204" charset="0"/>
              </a:rPr>
              <a:t> Support Vector Machine (SVM) </a:t>
            </a:r>
            <a:r>
              <a:rPr lang="en-ID" sz="3200" dirty="0" err="1">
                <a:latin typeface="Nunito Sans Condensed" panose="020B0604020202020204" charset="0"/>
              </a:rPr>
              <a:t>untuk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membangun</a:t>
            </a:r>
            <a:r>
              <a:rPr lang="en-ID" sz="3200" dirty="0">
                <a:latin typeface="Nunito Sans Condensed" panose="020B0604020202020204" charset="0"/>
              </a:rPr>
              <a:t> model </a:t>
            </a:r>
            <a:r>
              <a:rPr lang="en-ID" sz="3200" dirty="0" err="1">
                <a:latin typeface="Nunito Sans Condensed" panose="020B0604020202020204" charset="0"/>
              </a:rPr>
              <a:t>klasifikasi</a:t>
            </a:r>
            <a:r>
              <a:rPr lang="en-ID" sz="3200" dirty="0">
                <a:latin typeface="Nunito Sans Condensed" panose="020B0604020202020204" charset="0"/>
              </a:rPr>
              <a:t> yang </a:t>
            </a:r>
            <a:r>
              <a:rPr lang="en-ID" sz="3200" dirty="0" err="1">
                <a:latin typeface="Nunito Sans Condensed" panose="020B0604020202020204" charset="0"/>
              </a:rPr>
              <a:t>mampu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membedakan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berita</a:t>
            </a:r>
            <a:r>
              <a:rPr lang="en-ID" sz="3200" dirty="0">
                <a:latin typeface="Nunito Sans Condensed" panose="020B0604020202020204" charset="0"/>
              </a:rPr>
              <a:t> online </a:t>
            </a:r>
            <a:r>
              <a:rPr lang="en-ID" sz="3200" dirty="0" err="1">
                <a:latin typeface="Nunito Sans Condensed" panose="020B0604020202020204" charset="0"/>
              </a:rPr>
              <a:t>berbahasa</a:t>
            </a:r>
            <a:r>
              <a:rPr lang="en-ID" sz="3200" dirty="0">
                <a:latin typeface="Nunito Sans Condensed" panose="020B0604020202020204" charset="0"/>
              </a:rPr>
              <a:t> Indonesia </a:t>
            </a:r>
            <a:r>
              <a:rPr lang="en-ID" sz="3200" dirty="0" err="1">
                <a:latin typeface="Nunito Sans Condensed" panose="020B0604020202020204" charset="0"/>
              </a:rPr>
              <a:t>ke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dalam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kategori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hoaks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atau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fakta</a:t>
            </a:r>
            <a:r>
              <a:rPr lang="en-ID" sz="3200" dirty="0">
                <a:latin typeface="Nunito Sans Condensed" panose="020B0604020202020204" charset="0"/>
              </a:rPr>
              <a:t>. </a:t>
            </a:r>
            <a:endParaRPr lang="en-US" sz="3200" spc="-162" dirty="0">
              <a:solidFill>
                <a:srgbClr val="000000"/>
              </a:solidFill>
              <a:latin typeface="Nunito Sans Condensed" panose="020B0604020202020204" charset="0"/>
              <a:ea typeface="DM Sans"/>
              <a:cs typeface="DM Sans"/>
              <a:sym typeface="DM Sans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902432C-C76F-D8A0-EE26-BAA16A54DE82}"/>
              </a:ext>
            </a:extLst>
          </p:cNvPr>
          <p:cNvSpPr txBox="1"/>
          <p:nvPr/>
        </p:nvSpPr>
        <p:spPr>
          <a:xfrm>
            <a:off x="17033176" y="9189989"/>
            <a:ext cx="805006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dirty="0">
                <a:solidFill>
                  <a:srgbClr val="FFFFFF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04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C3FA06A-65B5-BC2B-E7F1-27525BE419D6}"/>
              </a:ext>
            </a:extLst>
          </p:cNvPr>
          <p:cNvSpPr txBox="1"/>
          <p:nvPr/>
        </p:nvSpPr>
        <p:spPr>
          <a:xfrm>
            <a:off x="5791200" y="652184"/>
            <a:ext cx="5617547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dirty="0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Tujuan </a:t>
            </a:r>
            <a:r>
              <a:rPr lang="en-US" sz="5999" dirty="0" err="1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Penelitian</a:t>
            </a:r>
            <a:endParaRPr lang="en-US" sz="5999" dirty="0">
              <a:solidFill>
                <a:srgbClr val="000000"/>
              </a:solidFill>
              <a:latin typeface="Nunito Sans Condensed"/>
              <a:ea typeface="Nunito Sans Condensed"/>
              <a:cs typeface="Nunito Sans Condensed"/>
              <a:sym typeface="Nunito Sans Condensed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8A448C8C-8B6E-A196-6C5C-AB281923D54A}"/>
              </a:ext>
            </a:extLst>
          </p:cNvPr>
          <p:cNvSpPr/>
          <p:nvPr/>
        </p:nvSpPr>
        <p:spPr>
          <a:xfrm>
            <a:off x="16436457" y="-368611"/>
            <a:ext cx="4234221" cy="1397311"/>
          </a:xfrm>
          <a:custGeom>
            <a:avLst/>
            <a:gdLst/>
            <a:ahLst/>
            <a:cxnLst/>
            <a:rect l="l" t="t" r="r" b="b"/>
            <a:pathLst>
              <a:path w="4234221" h="1397311">
                <a:moveTo>
                  <a:pt x="0" y="0"/>
                </a:moveTo>
                <a:lnTo>
                  <a:pt x="4234221" y="0"/>
                </a:lnTo>
                <a:lnTo>
                  <a:pt x="4234221" y="1397311"/>
                </a:lnTo>
                <a:lnTo>
                  <a:pt x="0" y="1397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57287DD0-E8DA-A1A4-46EF-D2C82615D83A}"/>
              </a:ext>
            </a:extLst>
          </p:cNvPr>
          <p:cNvGrpSpPr/>
          <p:nvPr/>
        </p:nvGrpSpPr>
        <p:grpSpPr>
          <a:xfrm>
            <a:off x="1287659" y="6057818"/>
            <a:ext cx="15148798" cy="1636071"/>
            <a:chOff x="0" y="0"/>
            <a:chExt cx="3989807" cy="430899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EE0E1F2B-675D-8AE3-4BE7-508193433C39}"/>
                </a:ext>
              </a:extLst>
            </p:cNvPr>
            <p:cNvSpPr/>
            <p:nvPr/>
          </p:nvSpPr>
          <p:spPr>
            <a:xfrm>
              <a:off x="0" y="0"/>
              <a:ext cx="3989807" cy="430899"/>
            </a:xfrm>
            <a:custGeom>
              <a:avLst/>
              <a:gdLst/>
              <a:ahLst/>
              <a:cxnLst/>
              <a:rect l="l" t="t" r="r" b="b"/>
              <a:pathLst>
                <a:path w="3989807" h="430899">
                  <a:moveTo>
                    <a:pt x="0" y="0"/>
                  </a:moveTo>
                  <a:lnTo>
                    <a:pt x="3989807" y="0"/>
                  </a:lnTo>
                  <a:lnTo>
                    <a:pt x="3989807" y="430899"/>
                  </a:lnTo>
                  <a:lnTo>
                    <a:pt x="0" y="430899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5117543F-5E93-BE7D-C9E0-4CFE969111E3}"/>
                </a:ext>
              </a:extLst>
            </p:cNvPr>
            <p:cNvSpPr txBox="1"/>
            <p:nvPr/>
          </p:nvSpPr>
          <p:spPr>
            <a:xfrm>
              <a:off x="0" y="-19050"/>
              <a:ext cx="3989807" cy="449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5544D05F-11BA-ED63-4904-A3AD771755F4}"/>
              </a:ext>
            </a:extLst>
          </p:cNvPr>
          <p:cNvGrpSpPr/>
          <p:nvPr/>
        </p:nvGrpSpPr>
        <p:grpSpPr>
          <a:xfrm>
            <a:off x="466247" y="6309156"/>
            <a:ext cx="1052252" cy="1052252"/>
            <a:chOff x="0" y="0"/>
            <a:chExt cx="1403003" cy="1403003"/>
          </a:xfrm>
        </p:grpSpPr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3D1791BB-B3F6-97B3-58E1-242B94D7F124}"/>
                </a:ext>
              </a:extLst>
            </p:cNvPr>
            <p:cNvGrpSpPr/>
            <p:nvPr/>
          </p:nvGrpSpPr>
          <p:grpSpPr>
            <a:xfrm>
              <a:off x="0" y="0"/>
              <a:ext cx="1403003" cy="1403003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EE6CAF9E-CDE4-B73D-D9D4-A4FB96E97E0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182A8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492E6B2C-B5B0-48BE-4726-E79B5C89C37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1DF4A59C-8082-27FD-4401-B417127BC845}"/>
                </a:ext>
              </a:extLst>
            </p:cNvPr>
            <p:cNvSpPr txBox="1"/>
            <p:nvPr/>
          </p:nvSpPr>
          <p:spPr>
            <a:xfrm>
              <a:off x="53696" y="294450"/>
              <a:ext cx="1295611" cy="7641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99"/>
                </a:lnSpc>
              </a:pPr>
              <a:r>
                <a:rPr lang="en-US" sz="3499" b="1" dirty="0">
                  <a:solidFill>
                    <a:srgbClr val="FFFFFF"/>
                  </a:solidFill>
                  <a:latin typeface="Nunito Sans Condensed Bold"/>
                  <a:ea typeface="Nunito Sans Condensed Bold"/>
                  <a:cs typeface="Nunito Sans Condensed Bold"/>
                  <a:sym typeface="Nunito Sans Condensed Bold"/>
                </a:rPr>
                <a:t>02.</a:t>
              </a:r>
            </a:p>
          </p:txBody>
        </p:sp>
      </p:grpSp>
      <p:sp>
        <p:nvSpPr>
          <p:cNvPr id="29" name="TextBox 29">
            <a:extLst>
              <a:ext uri="{FF2B5EF4-FFF2-40B4-BE49-F238E27FC236}">
                <a16:creationId xmlns:a16="http://schemas.microsoft.com/office/drawing/2014/main" id="{54EC38AF-7D36-C4C2-20C5-9D8512B5FB1D}"/>
              </a:ext>
            </a:extLst>
          </p:cNvPr>
          <p:cNvSpPr txBox="1"/>
          <p:nvPr/>
        </p:nvSpPr>
        <p:spPr>
          <a:xfrm>
            <a:off x="1600200" y="6134100"/>
            <a:ext cx="14748188" cy="1561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ID" sz="3200" dirty="0" err="1">
                <a:latin typeface="Nunito Sans Condensed" panose="020B0604020202020204" charset="0"/>
              </a:rPr>
              <a:t>Menganalisis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serta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mengukur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kinerja</a:t>
            </a:r>
            <a:r>
              <a:rPr lang="en-ID" sz="3200" dirty="0">
                <a:latin typeface="Nunito Sans Condensed" panose="020B0604020202020204" charset="0"/>
              </a:rPr>
              <a:t> model </a:t>
            </a:r>
            <a:r>
              <a:rPr lang="en-ID" sz="3200" dirty="0" err="1">
                <a:latin typeface="Nunito Sans Condensed" panose="020B0604020202020204" charset="0"/>
              </a:rPr>
              <a:t>klasifikasi</a:t>
            </a:r>
            <a:r>
              <a:rPr lang="en-ID" sz="3200" dirty="0">
                <a:latin typeface="Nunito Sans Condensed" panose="020B0604020202020204" charset="0"/>
              </a:rPr>
              <a:t> SVM </a:t>
            </a:r>
            <a:r>
              <a:rPr lang="en-ID" sz="3200" dirty="0" err="1">
                <a:latin typeface="Nunito Sans Condensed" panose="020B0604020202020204" charset="0"/>
              </a:rPr>
              <a:t>dengan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menggunakan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metrik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evaluasi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berupa</a:t>
            </a:r>
            <a:r>
              <a:rPr lang="en-ID" sz="3200" dirty="0">
                <a:latin typeface="Nunito Sans Condensed" panose="020B0604020202020204" charset="0"/>
              </a:rPr>
              <a:t> accuracy, precision, dan recall </a:t>
            </a:r>
            <a:r>
              <a:rPr lang="en-ID" sz="3200" dirty="0" err="1">
                <a:latin typeface="Nunito Sans Condensed" panose="020B0604020202020204" charset="0"/>
              </a:rPr>
              <a:t>untuk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mengetahui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tingkat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efektivitas</a:t>
            </a:r>
            <a:r>
              <a:rPr lang="en-ID" sz="3200" dirty="0">
                <a:latin typeface="Nunito Sans Condensed" panose="020B0604020202020204" charset="0"/>
              </a:rPr>
              <a:t> dan </a:t>
            </a:r>
            <a:r>
              <a:rPr lang="en-ID" sz="3200" dirty="0" err="1">
                <a:latin typeface="Nunito Sans Condensed" panose="020B0604020202020204" charset="0"/>
              </a:rPr>
              <a:t>keandalannya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dalam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mendeteksi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berita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hoaks</a:t>
            </a:r>
            <a:r>
              <a:rPr lang="en-ID" sz="3200" dirty="0">
                <a:latin typeface="Nunito Sans Condensed" panose="020B0604020202020204" charset="0"/>
              </a:rPr>
              <a:t>. </a:t>
            </a:r>
            <a:endParaRPr lang="en-US" sz="2900" dirty="0">
              <a:solidFill>
                <a:srgbClr val="000000"/>
              </a:solidFill>
              <a:latin typeface="Nunito Sans Condensed" panose="020B0604020202020204" charset="0"/>
              <a:ea typeface="DM Sans"/>
              <a:cs typeface="DM Sans"/>
              <a:sym typeface="DM Sans"/>
            </a:endParaRPr>
          </a:p>
        </p:txBody>
      </p:sp>
      <p:grpSp>
        <p:nvGrpSpPr>
          <p:cNvPr id="33" name="Group 33">
            <a:extLst>
              <a:ext uri="{FF2B5EF4-FFF2-40B4-BE49-F238E27FC236}">
                <a16:creationId xmlns:a16="http://schemas.microsoft.com/office/drawing/2014/main" id="{FF41FF5F-7863-3EC0-32E2-8804D805B0FD}"/>
              </a:ext>
            </a:extLst>
          </p:cNvPr>
          <p:cNvGrpSpPr/>
          <p:nvPr/>
        </p:nvGrpSpPr>
        <p:grpSpPr>
          <a:xfrm>
            <a:off x="506519" y="6594072"/>
            <a:ext cx="971708" cy="904279"/>
            <a:chOff x="53696" y="65765"/>
            <a:chExt cx="1295611" cy="1205706"/>
          </a:xfrm>
        </p:grpSpPr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5BB19461-849D-1E0D-9962-90254B2DD696}"/>
                </a:ext>
              </a:extLst>
            </p:cNvPr>
            <p:cNvSpPr txBox="1"/>
            <p:nvPr/>
          </p:nvSpPr>
          <p:spPr>
            <a:xfrm>
              <a:off x="131532" y="65765"/>
              <a:ext cx="1139940" cy="12057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2304661A-135E-B6A7-DFB0-B0D1842A5AB8}"/>
                </a:ext>
              </a:extLst>
            </p:cNvPr>
            <p:cNvSpPr txBox="1"/>
            <p:nvPr/>
          </p:nvSpPr>
          <p:spPr>
            <a:xfrm>
              <a:off x="53696" y="294449"/>
              <a:ext cx="1295611" cy="8079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99"/>
                </a:lnSpc>
              </a:pPr>
              <a:endParaRPr lang="en-US" sz="3499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14039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834479" y="235012"/>
            <a:ext cx="6663147" cy="755661"/>
            <a:chOff x="0" y="0"/>
            <a:chExt cx="1754903" cy="1990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4903" cy="199022"/>
            </a:xfrm>
            <a:custGeom>
              <a:avLst/>
              <a:gdLst/>
              <a:ahLst/>
              <a:cxnLst/>
              <a:rect l="l" t="t" r="r" b="b"/>
              <a:pathLst>
                <a:path w="1754903" h="199022">
                  <a:moveTo>
                    <a:pt x="0" y="0"/>
                  </a:moveTo>
                  <a:lnTo>
                    <a:pt x="1754903" y="0"/>
                  </a:lnTo>
                  <a:lnTo>
                    <a:pt x="1754903" y="199022"/>
                  </a:lnTo>
                  <a:lnTo>
                    <a:pt x="0" y="199022"/>
                  </a:lnTo>
                  <a:close/>
                </a:path>
              </a:pathLst>
            </a:custGeom>
            <a:solidFill>
              <a:srgbClr val="B7CADB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754903" cy="218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050418" y="9049203"/>
            <a:ext cx="770523" cy="77052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182A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934534" y="1306275"/>
            <a:ext cx="770523" cy="77052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182A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1306275"/>
            <a:ext cx="18288000" cy="7272736"/>
            <a:chOff x="0" y="0"/>
            <a:chExt cx="4816593" cy="191545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2" cy="1915453"/>
            </a:xfrm>
            <a:custGeom>
              <a:avLst/>
              <a:gdLst/>
              <a:ahLst/>
              <a:cxnLst/>
              <a:rect l="l" t="t" r="r" b="b"/>
              <a:pathLst>
                <a:path w="4816592" h="1915453">
                  <a:moveTo>
                    <a:pt x="0" y="0"/>
                  </a:moveTo>
                  <a:lnTo>
                    <a:pt x="4816592" y="0"/>
                  </a:lnTo>
                  <a:lnTo>
                    <a:pt x="4816592" y="1915453"/>
                  </a:lnTo>
                  <a:lnTo>
                    <a:pt x="0" y="1915453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4816593" cy="1934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48400" y="5753100"/>
            <a:ext cx="5633402" cy="2674000"/>
            <a:chOff x="0" y="0"/>
            <a:chExt cx="6215595" cy="1686096"/>
          </a:xfrm>
        </p:grpSpPr>
        <p:grpSp>
          <p:nvGrpSpPr>
            <p:cNvPr id="15" name="Group 15"/>
            <p:cNvGrpSpPr/>
            <p:nvPr/>
          </p:nvGrpSpPr>
          <p:grpSpPr>
            <a:xfrm>
              <a:off x="203200" y="203200"/>
              <a:ext cx="6012395" cy="1482896"/>
              <a:chOff x="0" y="0"/>
              <a:chExt cx="1187634" cy="292918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187634" cy="292918"/>
              </a:xfrm>
              <a:custGeom>
                <a:avLst/>
                <a:gdLst/>
                <a:ahLst/>
                <a:cxnLst/>
                <a:rect l="l" t="t" r="r" b="b"/>
                <a:pathLst>
                  <a:path w="1187634" h="292918">
                    <a:moveTo>
                      <a:pt x="0" y="0"/>
                    </a:moveTo>
                    <a:lnTo>
                      <a:pt x="1187634" y="0"/>
                    </a:lnTo>
                    <a:lnTo>
                      <a:pt x="1187634" y="292918"/>
                    </a:lnTo>
                    <a:lnTo>
                      <a:pt x="0" y="292918"/>
                    </a:lnTo>
                    <a:close/>
                  </a:path>
                </a:pathLst>
              </a:custGeom>
              <a:solidFill>
                <a:srgbClr val="B7CADB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19050"/>
                <a:ext cx="1187634" cy="3119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0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0"/>
              <a:ext cx="6012395" cy="1482896"/>
              <a:chOff x="0" y="0"/>
              <a:chExt cx="1187634" cy="29291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187634" cy="292918"/>
              </a:xfrm>
              <a:custGeom>
                <a:avLst/>
                <a:gdLst/>
                <a:ahLst/>
                <a:cxnLst/>
                <a:rect l="l" t="t" r="r" b="b"/>
                <a:pathLst>
                  <a:path w="1187634" h="292918">
                    <a:moveTo>
                      <a:pt x="0" y="0"/>
                    </a:moveTo>
                    <a:lnTo>
                      <a:pt x="1187634" y="0"/>
                    </a:lnTo>
                    <a:lnTo>
                      <a:pt x="1187634" y="292918"/>
                    </a:lnTo>
                    <a:lnTo>
                      <a:pt x="0" y="292918"/>
                    </a:lnTo>
                    <a:close/>
                  </a:path>
                </a:pathLst>
              </a:custGeom>
              <a:solidFill>
                <a:srgbClr val="D8E2EB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19050"/>
                <a:ext cx="1187634" cy="3119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00"/>
                  </a:lnSpc>
                </a:pPr>
                <a:endParaRPr/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10852351" y="2425353"/>
            <a:ext cx="4784818" cy="2339733"/>
            <a:chOff x="0" y="0"/>
            <a:chExt cx="5767671" cy="2347944"/>
          </a:xfrm>
        </p:grpSpPr>
        <p:grpSp>
          <p:nvGrpSpPr>
            <p:cNvPr id="35" name="Group 35"/>
            <p:cNvGrpSpPr/>
            <p:nvPr/>
          </p:nvGrpSpPr>
          <p:grpSpPr>
            <a:xfrm>
              <a:off x="203200" y="203200"/>
              <a:ext cx="5564471" cy="2144744"/>
              <a:chOff x="0" y="0"/>
              <a:chExt cx="1099155" cy="42365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099155" cy="423653"/>
              </a:xfrm>
              <a:custGeom>
                <a:avLst/>
                <a:gdLst/>
                <a:ahLst/>
                <a:cxnLst/>
                <a:rect l="l" t="t" r="r" b="b"/>
                <a:pathLst>
                  <a:path w="1099155" h="423653">
                    <a:moveTo>
                      <a:pt x="0" y="0"/>
                    </a:moveTo>
                    <a:lnTo>
                      <a:pt x="1099155" y="0"/>
                    </a:lnTo>
                    <a:lnTo>
                      <a:pt x="1099155" y="423653"/>
                    </a:lnTo>
                    <a:lnTo>
                      <a:pt x="0" y="423653"/>
                    </a:lnTo>
                    <a:close/>
                  </a:path>
                </a:pathLst>
              </a:custGeom>
              <a:solidFill>
                <a:srgbClr val="B7CADB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19050"/>
                <a:ext cx="1099155" cy="4427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00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0" y="0"/>
              <a:ext cx="5564471" cy="2144744"/>
              <a:chOff x="0" y="0"/>
              <a:chExt cx="1099155" cy="42365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099155" cy="423653"/>
              </a:xfrm>
              <a:custGeom>
                <a:avLst/>
                <a:gdLst/>
                <a:ahLst/>
                <a:cxnLst/>
                <a:rect l="l" t="t" r="r" b="b"/>
                <a:pathLst>
                  <a:path w="1099155" h="423653">
                    <a:moveTo>
                      <a:pt x="0" y="0"/>
                    </a:moveTo>
                    <a:lnTo>
                      <a:pt x="1099155" y="0"/>
                    </a:lnTo>
                    <a:lnTo>
                      <a:pt x="1099155" y="423653"/>
                    </a:lnTo>
                    <a:lnTo>
                      <a:pt x="0" y="423653"/>
                    </a:lnTo>
                    <a:close/>
                  </a:path>
                </a:pathLst>
              </a:custGeom>
              <a:solidFill>
                <a:srgbClr val="D8E2EB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-19050"/>
                <a:ext cx="1099155" cy="4427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00"/>
                  </a:lnSpc>
                </a:pPr>
                <a:endParaRPr/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286016" y="2115836"/>
            <a:ext cx="6217789" cy="2733459"/>
            <a:chOff x="0" y="0"/>
            <a:chExt cx="8293279" cy="2998000"/>
          </a:xfrm>
        </p:grpSpPr>
        <p:grpSp>
          <p:nvGrpSpPr>
            <p:cNvPr id="42" name="Group 42"/>
            <p:cNvGrpSpPr/>
            <p:nvPr/>
          </p:nvGrpSpPr>
          <p:grpSpPr>
            <a:xfrm>
              <a:off x="203200" y="203200"/>
              <a:ext cx="8090079" cy="2794800"/>
              <a:chOff x="0" y="0"/>
              <a:chExt cx="1598040" cy="552059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1598040" cy="552059"/>
              </a:xfrm>
              <a:custGeom>
                <a:avLst/>
                <a:gdLst/>
                <a:ahLst/>
                <a:cxnLst/>
                <a:rect l="l" t="t" r="r" b="b"/>
                <a:pathLst>
                  <a:path w="1598040" h="552059">
                    <a:moveTo>
                      <a:pt x="0" y="0"/>
                    </a:moveTo>
                    <a:lnTo>
                      <a:pt x="1598040" y="0"/>
                    </a:lnTo>
                    <a:lnTo>
                      <a:pt x="1598040" y="552059"/>
                    </a:lnTo>
                    <a:lnTo>
                      <a:pt x="0" y="552059"/>
                    </a:lnTo>
                    <a:close/>
                  </a:path>
                </a:pathLst>
              </a:custGeom>
              <a:solidFill>
                <a:srgbClr val="B7CADB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19050"/>
                <a:ext cx="1598040" cy="5711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00"/>
                  </a:lnSpc>
                </a:pPr>
                <a:endParaRPr/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0" y="0"/>
              <a:ext cx="8090079" cy="2794800"/>
              <a:chOff x="0" y="0"/>
              <a:chExt cx="1598040" cy="552059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1598040" cy="552059"/>
              </a:xfrm>
              <a:custGeom>
                <a:avLst/>
                <a:gdLst/>
                <a:ahLst/>
                <a:cxnLst/>
                <a:rect l="l" t="t" r="r" b="b"/>
                <a:pathLst>
                  <a:path w="1598040" h="552059">
                    <a:moveTo>
                      <a:pt x="0" y="0"/>
                    </a:moveTo>
                    <a:lnTo>
                      <a:pt x="1598040" y="0"/>
                    </a:lnTo>
                    <a:lnTo>
                      <a:pt x="1598040" y="552059"/>
                    </a:lnTo>
                    <a:lnTo>
                      <a:pt x="0" y="552059"/>
                    </a:lnTo>
                    <a:close/>
                  </a:path>
                </a:pathLst>
              </a:custGeom>
              <a:solidFill>
                <a:srgbClr val="D8E2EB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19050"/>
                <a:ext cx="1598040" cy="5711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00"/>
                  </a:lnSpc>
                </a:pPr>
                <a:endParaRPr/>
              </a:p>
            </p:txBody>
          </p:sp>
        </p:grpSp>
      </p:grpSp>
      <p:sp>
        <p:nvSpPr>
          <p:cNvPr id="48" name="TextBox 48"/>
          <p:cNvSpPr txBox="1"/>
          <p:nvPr/>
        </p:nvSpPr>
        <p:spPr>
          <a:xfrm>
            <a:off x="402556" y="2083355"/>
            <a:ext cx="5834479" cy="2476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ID" sz="2800" dirty="0">
                <a:latin typeface="Nunito Sans Condensed" panose="020B0604020202020204" charset="0"/>
              </a:rPr>
              <a:t>Dataset </a:t>
            </a:r>
            <a:r>
              <a:rPr lang="en-ID" sz="2800" dirty="0" err="1">
                <a:latin typeface="Nunito Sans Condensed" panose="020B0604020202020204" charset="0"/>
              </a:rPr>
              <a:t>berupa</a:t>
            </a:r>
            <a:r>
              <a:rPr lang="en-ID" sz="2800" dirty="0">
                <a:latin typeface="Nunito Sans Condensed" panose="020B0604020202020204" charset="0"/>
              </a:rPr>
              <a:t> </a:t>
            </a:r>
            <a:r>
              <a:rPr lang="en-ID" sz="2800" dirty="0" err="1">
                <a:latin typeface="Nunito Sans Condensed" panose="020B0604020202020204" charset="0"/>
              </a:rPr>
              <a:t>berita</a:t>
            </a:r>
            <a:r>
              <a:rPr lang="en-ID" sz="2800" dirty="0">
                <a:latin typeface="Nunito Sans Condensed" panose="020B0604020202020204" charset="0"/>
              </a:rPr>
              <a:t> online </a:t>
            </a:r>
            <a:r>
              <a:rPr lang="en-ID" sz="2800" dirty="0" err="1">
                <a:latin typeface="Nunito Sans Condensed" panose="020B0604020202020204" charset="0"/>
              </a:rPr>
              <a:t>berbahasa</a:t>
            </a:r>
            <a:r>
              <a:rPr lang="en-ID" sz="2800" dirty="0">
                <a:latin typeface="Nunito Sans Condensed" panose="020B0604020202020204" charset="0"/>
              </a:rPr>
              <a:t> Indonesia yang </a:t>
            </a:r>
            <a:r>
              <a:rPr lang="en-ID" sz="2800" dirty="0" err="1">
                <a:latin typeface="Nunito Sans Condensed" panose="020B0604020202020204" charset="0"/>
              </a:rPr>
              <a:t>dikumpulkan</a:t>
            </a:r>
            <a:r>
              <a:rPr lang="en-ID" sz="2800" dirty="0">
                <a:latin typeface="Nunito Sans Condensed" panose="020B0604020202020204" charset="0"/>
              </a:rPr>
              <a:t> </a:t>
            </a:r>
            <a:r>
              <a:rPr lang="en-ID" sz="2800" dirty="0" err="1">
                <a:latin typeface="Nunito Sans Condensed" panose="020B0604020202020204" charset="0"/>
              </a:rPr>
              <a:t>dari</a:t>
            </a:r>
            <a:r>
              <a:rPr lang="en-ID" sz="2800" dirty="0">
                <a:latin typeface="Nunito Sans Condensed" panose="020B0604020202020204" charset="0"/>
              </a:rPr>
              <a:t> </a:t>
            </a:r>
            <a:r>
              <a:rPr lang="en-ID" sz="2800" dirty="0" err="1">
                <a:latin typeface="Nunito Sans Condensed" panose="020B0604020202020204" charset="0"/>
              </a:rPr>
              <a:t>beberapa</a:t>
            </a:r>
            <a:r>
              <a:rPr lang="en-ID" sz="2800" dirty="0">
                <a:latin typeface="Nunito Sans Condensed" panose="020B0604020202020204" charset="0"/>
              </a:rPr>
              <a:t> portal </a:t>
            </a:r>
            <a:r>
              <a:rPr lang="en-ID" sz="2800" dirty="0" err="1">
                <a:latin typeface="Nunito Sans Condensed" panose="020B0604020202020204" charset="0"/>
              </a:rPr>
              <a:t>berita</a:t>
            </a:r>
            <a:r>
              <a:rPr lang="en-ID" sz="2800" dirty="0">
                <a:latin typeface="Nunito Sans Condensed" panose="020B0604020202020204" charset="0"/>
              </a:rPr>
              <a:t> </a:t>
            </a:r>
            <a:r>
              <a:rPr lang="en-ID" sz="2800" dirty="0" err="1">
                <a:latin typeface="Nunito Sans Condensed" panose="020B0604020202020204" charset="0"/>
              </a:rPr>
              <a:t>seperti</a:t>
            </a:r>
            <a:r>
              <a:rPr lang="en-ID" sz="2800" dirty="0">
                <a:latin typeface="Nunito Sans Condensed" panose="020B0604020202020204" charset="0"/>
              </a:rPr>
              <a:t> </a:t>
            </a:r>
            <a:r>
              <a:rPr lang="en-ID" sz="2800" dirty="0" err="1">
                <a:latin typeface="Nunito Sans Condensed" panose="020B0604020202020204" charset="0"/>
              </a:rPr>
              <a:t>Turnbackhoax.id,Kompas.com</a:t>
            </a:r>
            <a:r>
              <a:rPr lang="en-ID" sz="2800" dirty="0">
                <a:latin typeface="Nunito Sans Condensed" panose="020B0604020202020204" charset="0"/>
              </a:rPr>
              <a:t> dan Detik.com.</a:t>
            </a:r>
            <a:endParaRPr lang="en-US" sz="2800" spc="-162" dirty="0">
              <a:solidFill>
                <a:srgbClr val="000000"/>
              </a:solidFill>
              <a:latin typeface="Nunito Sans Condensed" panose="020B0604020202020204" charset="0"/>
              <a:ea typeface="DM Sans"/>
              <a:cs typeface="DM Sans"/>
              <a:sym typeface="DM Sans"/>
            </a:endParaRPr>
          </a:p>
        </p:txBody>
      </p:sp>
      <p:sp>
        <p:nvSpPr>
          <p:cNvPr id="49" name="Freeform 49"/>
          <p:cNvSpPr/>
          <p:nvPr/>
        </p:nvSpPr>
        <p:spPr>
          <a:xfrm>
            <a:off x="-1629762" y="5319488"/>
            <a:ext cx="3259524" cy="3259524"/>
          </a:xfrm>
          <a:custGeom>
            <a:avLst/>
            <a:gdLst/>
            <a:ahLst/>
            <a:cxnLst/>
            <a:rect l="l" t="t" r="r" b="b"/>
            <a:pathLst>
              <a:path w="3259524" h="3259524">
                <a:moveTo>
                  <a:pt x="0" y="0"/>
                </a:moveTo>
                <a:lnTo>
                  <a:pt x="3259524" y="0"/>
                </a:lnTo>
                <a:lnTo>
                  <a:pt x="3259524" y="3259524"/>
                </a:lnTo>
                <a:lnTo>
                  <a:pt x="0" y="32595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0" name="TextBox 50"/>
          <p:cNvSpPr txBox="1"/>
          <p:nvPr/>
        </p:nvSpPr>
        <p:spPr>
          <a:xfrm>
            <a:off x="5409538" y="19050"/>
            <a:ext cx="7464276" cy="1037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ID" sz="6000" dirty="0">
                <a:latin typeface="Nunito Sans Condensed" panose="020B0604020202020204" charset="0"/>
              </a:rPr>
              <a:t>Batasan </a:t>
            </a:r>
            <a:r>
              <a:rPr lang="en-ID" sz="6000" dirty="0" err="1">
                <a:latin typeface="Nunito Sans Condensed" panose="020B0604020202020204" charset="0"/>
              </a:rPr>
              <a:t>Penelitian</a:t>
            </a:r>
            <a:r>
              <a:rPr lang="en-ID" sz="6000" dirty="0">
                <a:latin typeface="Nunito Sans Condensed" panose="020B0604020202020204" charset="0"/>
              </a:rPr>
              <a:t> </a:t>
            </a:r>
            <a:endParaRPr lang="en-US" sz="5999" dirty="0">
              <a:solidFill>
                <a:srgbClr val="000000"/>
              </a:solidFill>
              <a:latin typeface="Nunito Sans Condensed" panose="020B0604020202020204" charset="0"/>
              <a:ea typeface="Nunito Sans Condensed"/>
              <a:cs typeface="Nunito Sans Condensed"/>
              <a:sym typeface="Nunito Sans Condensed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2455576" y="1407468"/>
            <a:ext cx="1835663" cy="605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 dirty="0">
                <a:solidFill>
                  <a:srgbClr val="000000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01. Data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7033176" y="9189989"/>
            <a:ext cx="805006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dirty="0">
                <a:solidFill>
                  <a:srgbClr val="FFFFFF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05</a:t>
            </a:r>
          </a:p>
        </p:txBody>
      </p:sp>
      <p:sp>
        <p:nvSpPr>
          <p:cNvPr id="53" name="Freeform 53"/>
          <p:cNvSpPr/>
          <p:nvPr/>
        </p:nvSpPr>
        <p:spPr>
          <a:xfrm>
            <a:off x="14745828" y="7860989"/>
            <a:ext cx="1427502" cy="1397311"/>
          </a:xfrm>
          <a:custGeom>
            <a:avLst/>
            <a:gdLst/>
            <a:ahLst/>
            <a:cxnLst/>
            <a:rect l="l" t="t" r="r" b="b"/>
            <a:pathLst>
              <a:path w="1427502" h="1397311">
                <a:moveTo>
                  <a:pt x="0" y="0"/>
                </a:moveTo>
                <a:lnTo>
                  <a:pt x="1427502" y="0"/>
                </a:lnTo>
                <a:lnTo>
                  <a:pt x="1427502" y="1397311"/>
                </a:lnTo>
                <a:lnTo>
                  <a:pt x="0" y="1397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96617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4" name="Freeform 54"/>
          <p:cNvSpPr/>
          <p:nvPr/>
        </p:nvSpPr>
        <p:spPr>
          <a:xfrm>
            <a:off x="916011" y="330045"/>
            <a:ext cx="1427502" cy="1397311"/>
          </a:xfrm>
          <a:custGeom>
            <a:avLst/>
            <a:gdLst/>
            <a:ahLst/>
            <a:cxnLst/>
            <a:rect l="l" t="t" r="r" b="b"/>
            <a:pathLst>
              <a:path w="1427502" h="1397311">
                <a:moveTo>
                  <a:pt x="0" y="0"/>
                </a:moveTo>
                <a:lnTo>
                  <a:pt x="1427502" y="0"/>
                </a:lnTo>
                <a:lnTo>
                  <a:pt x="1427502" y="1397310"/>
                </a:lnTo>
                <a:lnTo>
                  <a:pt x="0" y="13973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96617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5" name="TextBox 55"/>
          <p:cNvSpPr txBox="1"/>
          <p:nvPr/>
        </p:nvSpPr>
        <p:spPr>
          <a:xfrm>
            <a:off x="11861625" y="1699912"/>
            <a:ext cx="2484474" cy="609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 dirty="0">
                <a:solidFill>
                  <a:srgbClr val="000000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02.</a:t>
            </a:r>
            <a:r>
              <a:rPr lang="en-ID" sz="3600" dirty="0"/>
              <a:t> </a:t>
            </a:r>
            <a:r>
              <a:rPr lang="en-ID" sz="3600" dirty="0" err="1"/>
              <a:t>Algoritma</a:t>
            </a:r>
            <a:endParaRPr lang="en-US" sz="3499" b="1" dirty="0">
              <a:solidFill>
                <a:srgbClr val="000000"/>
              </a:solidFill>
              <a:latin typeface="Nunito Sans Condensed Bold"/>
              <a:ea typeface="Nunito Sans Condensed Bold"/>
              <a:cs typeface="Nunito Sans Condensed Bold"/>
              <a:sym typeface="Nunito Sans Condensed Bold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0940012" y="2393168"/>
            <a:ext cx="4176837" cy="1976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ID" sz="2800" dirty="0" err="1">
                <a:latin typeface="Nunito Sans Condensed" panose="020B0604020202020204" charset="0"/>
              </a:rPr>
              <a:t>Penelitian</a:t>
            </a:r>
            <a:r>
              <a:rPr lang="en-ID" sz="2800" dirty="0">
                <a:latin typeface="Nunito Sans Condensed" panose="020B0604020202020204" charset="0"/>
              </a:rPr>
              <a:t> </a:t>
            </a:r>
            <a:r>
              <a:rPr lang="en-ID" sz="2800" dirty="0" err="1">
                <a:latin typeface="Nunito Sans Condensed" panose="020B0604020202020204" charset="0"/>
              </a:rPr>
              <a:t>hanya</a:t>
            </a:r>
            <a:r>
              <a:rPr lang="en-ID" sz="2800" dirty="0">
                <a:latin typeface="Nunito Sans Condensed" panose="020B0604020202020204" charset="0"/>
              </a:rPr>
              <a:t> </a:t>
            </a:r>
            <a:r>
              <a:rPr lang="en-ID" sz="2800" dirty="0" err="1">
                <a:latin typeface="Nunito Sans Condensed" panose="020B0604020202020204" charset="0"/>
              </a:rPr>
              <a:t>berfokus</a:t>
            </a:r>
            <a:r>
              <a:rPr lang="en-ID" sz="2800" dirty="0">
                <a:latin typeface="Nunito Sans Condensed" panose="020B0604020202020204" charset="0"/>
              </a:rPr>
              <a:t> pada </a:t>
            </a:r>
            <a:r>
              <a:rPr lang="en-ID" sz="2800" dirty="0" err="1">
                <a:latin typeface="Nunito Sans Condensed" panose="020B0604020202020204" charset="0"/>
              </a:rPr>
              <a:t>penerapan</a:t>
            </a:r>
            <a:r>
              <a:rPr lang="en-ID" sz="2800" dirty="0">
                <a:latin typeface="Nunito Sans Condensed" panose="020B0604020202020204" charset="0"/>
              </a:rPr>
              <a:t> </a:t>
            </a:r>
            <a:r>
              <a:rPr lang="en-ID" sz="2800" dirty="0" err="1">
                <a:latin typeface="Nunito Sans Condensed" panose="020B0604020202020204" charset="0"/>
              </a:rPr>
              <a:t>algoritma</a:t>
            </a:r>
            <a:r>
              <a:rPr lang="en-ID" sz="2800" dirty="0">
                <a:latin typeface="Nunito Sans Condensed" panose="020B0604020202020204" charset="0"/>
              </a:rPr>
              <a:t> </a:t>
            </a:r>
            <a:r>
              <a:rPr lang="en-ID" sz="2800" dirty="0" err="1">
                <a:latin typeface="Nunito Sans Condensed" panose="020B0604020202020204" charset="0"/>
              </a:rPr>
              <a:t>klasifikasi</a:t>
            </a:r>
            <a:r>
              <a:rPr lang="en-ID" sz="2800" dirty="0">
                <a:latin typeface="Nunito Sans Condensed" panose="020B0604020202020204" charset="0"/>
              </a:rPr>
              <a:t> Support Vector Machine (SVM).</a:t>
            </a:r>
            <a:endParaRPr lang="en-US" sz="2800" spc="-162" dirty="0">
              <a:solidFill>
                <a:srgbClr val="000000"/>
              </a:solidFill>
              <a:latin typeface="Nunito Sans Condensed" panose="020B0604020202020204" charset="0"/>
              <a:ea typeface="DM Sans"/>
              <a:cs typeface="DM Sans"/>
              <a:sym typeface="DM Sans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6926068" y="5071575"/>
            <a:ext cx="3967414" cy="12458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800" b="1" dirty="0">
                <a:solidFill>
                  <a:srgbClr val="000000"/>
                </a:solidFill>
                <a:latin typeface="Nunito Sans Condensed" panose="020B0604020202020204" charset="0"/>
                <a:ea typeface="Nunito Sans Condensed Bold"/>
                <a:cs typeface="Nunito Sans Condensed Bold"/>
                <a:sym typeface="Nunito Sans Condensed Bold"/>
              </a:rPr>
              <a:t>03.</a:t>
            </a:r>
            <a:r>
              <a:rPr lang="en-ID" sz="3800" dirty="0">
                <a:latin typeface="Nunito Sans Condensed" panose="020B0604020202020204" charset="0"/>
              </a:rPr>
              <a:t> </a:t>
            </a:r>
            <a:r>
              <a:rPr lang="en-ID" sz="3800" dirty="0" err="1">
                <a:latin typeface="Nunito Sans Condensed" panose="020B0604020202020204" charset="0"/>
              </a:rPr>
              <a:t>Ekstraksi</a:t>
            </a:r>
            <a:r>
              <a:rPr lang="en-ID" sz="3800" dirty="0">
                <a:latin typeface="Nunito Sans Condensed" panose="020B0604020202020204" charset="0"/>
              </a:rPr>
              <a:t> Fitur</a:t>
            </a:r>
          </a:p>
          <a:p>
            <a:pPr algn="ctr">
              <a:lnSpc>
                <a:spcPts val="4899"/>
              </a:lnSpc>
            </a:pPr>
            <a:endParaRPr lang="en-US" sz="3800" b="1" dirty="0">
              <a:solidFill>
                <a:srgbClr val="000000"/>
              </a:solidFill>
              <a:latin typeface="Nunito Sans Condensed" panose="020B0604020202020204" charset="0"/>
              <a:ea typeface="Nunito Sans Condensed Bold"/>
              <a:cs typeface="Nunito Sans Condensed Bold"/>
              <a:sym typeface="Nunito Sans Condensed Bold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6373002" y="5818974"/>
            <a:ext cx="5172443" cy="19762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ID" sz="2800" dirty="0">
                <a:latin typeface="Nunito Sans Condensed" panose="020B0604020202020204" charset="0"/>
              </a:rPr>
              <a:t>Metode </a:t>
            </a:r>
            <a:r>
              <a:rPr lang="en-ID" sz="2800" dirty="0" err="1">
                <a:latin typeface="Nunito Sans Condensed" panose="020B0604020202020204" charset="0"/>
              </a:rPr>
              <a:t>ekstraksi</a:t>
            </a:r>
            <a:r>
              <a:rPr lang="en-ID" sz="2800" dirty="0">
                <a:latin typeface="Nunito Sans Condensed" panose="020B0604020202020204" charset="0"/>
              </a:rPr>
              <a:t> </a:t>
            </a:r>
            <a:r>
              <a:rPr lang="en-ID" sz="2800" dirty="0" err="1">
                <a:latin typeface="Nunito Sans Condensed" panose="020B0604020202020204" charset="0"/>
              </a:rPr>
              <a:t>fitur</a:t>
            </a:r>
            <a:r>
              <a:rPr lang="en-ID" sz="2800" dirty="0">
                <a:latin typeface="Nunito Sans Condensed" panose="020B0604020202020204" charset="0"/>
              </a:rPr>
              <a:t> yang </a:t>
            </a:r>
            <a:r>
              <a:rPr lang="en-ID" sz="2800" dirty="0" err="1">
                <a:latin typeface="Nunito Sans Condensed" panose="020B0604020202020204" charset="0"/>
              </a:rPr>
              <a:t>digunakan</a:t>
            </a:r>
            <a:r>
              <a:rPr lang="en-ID" sz="2800" dirty="0">
                <a:latin typeface="Nunito Sans Condensed" panose="020B0604020202020204" charset="0"/>
              </a:rPr>
              <a:t> </a:t>
            </a:r>
            <a:r>
              <a:rPr lang="en-ID" sz="2800" dirty="0" err="1">
                <a:latin typeface="Nunito Sans Condensed" panose="020B0604020202020204" charset="0"/>
              </a:rPr>
              <a:t>adalah</a:t>
            </a:r>
            <a:r>
              <a:rPr lang="en-ID" sz="2800" dirty="0">
                <a:latin typeface="Nunito Sans Condensed" panose="020B0604020202020204" charset="0"/>
              </a:rPr>
              <a:t> Term Frequency–Inverse Document Frequency (TF-IDF).</a:t>
            </a:r>
            <a:endParaRPr lang="en-US" sz="2800" spc="-162" dirty="0">
              <a:solidFill>
                <a:srgbClr val="000000"/>
              </a:solidFill>
              <a:latin typeface="Nunito Sans Condensed" panose="020B0604020202020204" charset="0"/>
              <a:ea typeface="DM Sans"/>
              <a:cs typeface="DM Sans"/>
              <a:sym typeface="DM Sans"/>
            </a:endParaRPr>
          </a:p>
        </p:txBody>
      </p:sp>
      <p:sp>
        <p:nvSpPr>
          <p:cNvPr id="63" name="Freeform 63"/>
          <p:cNvSpPr/>
          <p:nvPr/>
        </p:nvSpPr>
        <p:spPr>
          <a:xfrm>
            <a:off x="16658238" y="3312882"/>
            <a:ext cx="3259524" cy="3259524"/>
          </a:xfrm>
          <a:custGeom>
            <a:avLst/>
            <a:gdLst/>
            <a:ahLst/>
            <a:cxnLst/>
            <a:rect l="l" t="t" r="r" b="b"/>
            <a:pathLst>
              <a:path w="3259524" h="3259524">
                <a:moveTo>
                  <a:pt x="0" y="0"/>
                </a:moveTo>
                <a:lnTo>
                  <a:pt x="3259524" y="0"/>
                </a:lnTo>
                <a:lnTo>
                  <a:pt x="3259524" y="3259523"/>
                </a:lnTo>
                <a:lnTo>
                  <a:pt x="0" y="3259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82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30659" y="2650317"/>
            <a:ext cx="15317305" cy="3441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>
              <a:lnSpc>
                <a:spcPts val="4480"/>
              </a:lnSpc>
              <a:buFont typeface="Arial"/>
              <a:buChar char="•"/>
            </a:pPr>
            <a:r>
              <a:rPr lang="en-ID" sz="3200" b="1" dirty="0" err="1">
                <a:solidFill>
                  <a:schemeClr val="bg1"/>
                </a:solidFill>
                <a:latin typeface="Nunito Sans Condensed" panose="020B0604020202020204" charset="0"/>
              </a:rPr>
              <a:t>Pengumpulan</a:t>
            </a:r>
            <a:r>
              <a:rPr lang="en-ID" sz="3200" b="1" dirty="0">
                <a:solidFill>
                  <a:schemeClr val="bg1"/>
                </a:solidFill>
                <a:latin typeface="Nunito Sans Condensed" panose="020B0604020202020204" charset="0"/>
              </a:rPr>
              <a:t> Data: </a:t>
            </a:r>
            <a:r>
              <a:rPr lang="en-ID" sz="3200" dirty="0">
                <a:solidFill>
                  <a:schemeClr val="bg1"/>
                </a:solidFill>
                <a:latin typeface="Nunito Sans Condensed" panose="020B0604020202020204" charset="0"/>
              </a:rPr>
              <a:t>Data </a:t>
            </a:r>
            <a:r>
              <a:rPr lang="en-ID" sz="3200" dirty="0" err="1">
                <a:solidFill>
                  <a:schemeClr val="bg1"/>
                </a:solidFill>
                <a:latin typeface="Nunito Sans Condensed" panose="020B0604020202020204" charset="0"/>
              </a:rPr>
              <a:t>hoaks</a:t>
            </a:r>
            <a:r>
              <a:rPr lang="en-ID" sz="3200" dirty="0">
                <a:solidFill>
                  <a:schemeClr val="bg1"/>
                </a:solidFill>
                <a:latin typeface="Nunito Sans Condensed" panose="020B0604020202020204" charset="0"/>
              </a:rPr>
              <a:t> (Turnbackhoax.id) dan </a:t>
            </a:r>
            <a:r>
              <a:rPr lang="en-ID" sz="3200" dirty="0" err="1">
                <a:solidFill>
                  <a:schemeClr val="bg1"/>
                </a:solidFill>
                <a:latin typeface="Nunito Sans Condensed" panose="020B0604020202020204" charset="0"/>
              </a:rPr>
              <a:t>fakta</a:t>
            </a:r>
            <a:r>
              <a:rPr lang="en-ID" sz="3200" dirty="0">
                <a:solidFill>
                  <a:schemeClr val="bg1"/>
                </a:solidFill>
                <a:latin typeface="Nunito Sans Condensed" panose="020B0604020202020204" charset="0"/>
              </a:rPr>
              <a:t> (Kompas.com, Detik.com).</a:t>
            </a:r>
          </a:p>
          <a:p>
            <a:pPr marL="690881" lvl="1" indent="-345440">
              <a:lnSpc>
                <a:spcPts val="4480"/>
              </a:lnSpc>
              <a:buFont typeface="Arial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Nunito Sans Condensed" panose="020B0604020202020204" charset="0"/>
              </a:rPr>
              <a:t>Preprocessing:</a:t>
            </a:r>
            <a:r>
              <a:rPr lang="en-US" sz="3200" dirty="0">
                <a:solidFill>
                  <a:schemeClr val="bg1"/>
                </a:solidFill>
                <a:latin typeface="Nunito Sans Condensed" panose="020B0604020202020204" charset="0"/>
              </a:rPr>
              <a:t> </a:t>
            </a:r>
            <a:r>
              <a:rPr lang="en-US" sz="3200" i="1" dirty="0">
                <a:solidFill>
                  <a:schemeClr val="bg1"/>
                </a:solidFill>
                <a:latin typeface="Nunito Sans Condensed" panose="020B0604020202020204" charset="0"/>
              </a:rPr>
              <a:t>Case Folding</a:t>
            </a:r>
            <a:r>
              <a:rPr lang="en-US" sz="3200" dirty="0">
                <a:solidFill>
                  <a:schemeClr val="bg1"/>
                </a:solidFill>
                <a:latin typeface="Nunito Sans Condensed" panose="020B0604020202020204" charset="0"/>
              </a:rPr>
              <a:t>, </a:t>
            </a:r>
            <a:r>
              <a:rPr lang="en-US" sz="3200" i="1" dirty="0">
                <a:solidFill>
                  <a:schemeClr val="bg1"/>
                </a:solidFill>
                <a:latin typeface="Nunito Sans Condensed" panose="020B0604020202020204" charset="0"/>
              </a:rPr>
              <a:t>Punctuation Removal</a:t>
            </a:r>
            <a:r>
              <a:rPr lang="en-US" sz="3200" dirty="0">
                <a:solidFill>
                  <a:schemeClr val="bg1"/>
                </a:solidFill>
                <a:latin typeface="Nunito Sans Condensed" panose="020B0604020202020204" charset="0"/>
              </a:rPr>
              <a:t>, </a:t>
            </a:r>
            <a:r>
              <a:rPr lang="en-US" sz="3200" i="1" dirty="0">
                <a:solidFill>
                  <a:schemeClr val="bg1"/>
                </a:solidFill>
                <a:latin typeface="Nunito Sans Condensed" panose="020B0604020202020204" charset="0"/>
              </a:rPr>
              <a:t>Tokenizing</a:t>
            </a:r>
            <a:r>
              <a:rPr lang="en-US" sz="3200" dirty="0">
                <a:solidFill>
                  <a:schemeClr val="bg1"/>
                </a:solidFill>
                <a:latin typeface="Nunito Sans Condensed" panose="020B0604020202020204" charset="0"/>
              </a:rPr>
              <a:t>, </a:t>
            </a:r>
            <a:r>
              <a:rPr lang="en-US" sz="3200" i="1" dirty="0" err="1">
                <a:solidFill>
                  <a:schemeClr val="bg1"/>
                </a:solidFill>
                <a:latin typeface="Nunito Sans Condensed" panose="020B0604020202020204" charset="0"/>
              </a:rPr>
              <a:t>Stopword</a:t>
            </a:r>
            <a:r>
              <a:rPr lang="en-US" sz="3200" i="1" dirty="0">
                <a:solidFill>
                  <a:schemeClr val="bg1"/>
                </a:solidFill>
                <a:latin typeface="Nunito Sans Condensed" panose="020B0604020202020204" charset="0"/>
              </a:rPr>
              <a:t> Removal</a:t>
            </a:r>
            <a:r>
              <a:rPr lang="en-US" sz="3200" dirty="0">
                <a:solidFill>
                  <a:schemeClr val="bg1"/>
                </a:solidFill>
                <a:latin typeface="Nunito Sans Condensed" panose="020B0604020202020204" charset="0"/>
              </a:rPr>
              <a:t>, </a:t>
            </a:r>
            <a:r>
              <a:rPr lang="en-US" sz="3200" i="1" dirty="0">
                <a:solidFill>
                  <a:schemeClr val="bg1"/>
                </a:solidFill>
                <a:latin typeface="Nunito Sans Condensed" panose="020B0604020202020204" charset="0"/>
              </a:rPr>
              <a:t>Stemming</a:t>
            </a:r>
            <a:r>
              <a:rPr lang="en-US" sz="3200" dirty="0">
                <a:solidFill>
                  <a:schemeClr val="bg1"/>
                </a:solidFill>
                <a:latin typeface="Nunito Sans Condensed" panose="020B0604020202020204" charset="0"/>
              </a:rPr>
              <a:t>.</a:t>
            </a:r>
          </a:p>
          <a:p>
            <a:pPr marL="690881" lvl="1" indent="-345440">
              <a:lnSpc>
                <a:spcPts val="4480"/>
              </a:lnSpc>
              <a:buFont typeface="Arial"/>
              <a:buChar char="•"/>
            </a:pPr>
            <a:r>
              <a:rPr lang="en-US" sz="3200" b="1" dirty="0" err="1">
                <a:solidFill>
                  <a:schemeClr val="bg1"/>
                </a:solidFill>
                <a:latin typeface="Nunito Sans Condensed" panose="020B0604020202020204" charset="0"/>
                <a:ea typeface="DM Sans"/>
                <a:cs typeface="DM Sans"/>
                <a:sym typeface="DM Sans"/>
              </a:rPr>
              <a:t>Ekstrasi</a:t>
            </a:r>
            <a:r>
              <a:rPr lang="en-US" sz="3200" b="1" dirty="0">
                <a:solidFill>
                  <a:schemeClr val="bg1"/>
                </a:solidFill>
                <a:latin typeface="Nunito Sans Condensed" panose="020B0604020202020204" charset="0"/>
                <a:ea typeface="DM Sans"/>
                <a:cs typeface="DM Sans"/>
                <a:sym typeface="DM Sans"/>
              </a:rPr>
              <a:t> Fitur </a:t>
            </a:r>
            <a:r>
              <a:rPr lang="en-US" sz="3200" dirty="0">
                <a:solidFill>
                  <a:schemeClr val="bg1"/>
                </a:solidFill>
                <a:latin typeface="Nunito Sans Condensed" panose="020B0604020202020204" charset="0"/>
                <a:ea typeface="DM Sans"/>
                <a:cs typeface="DM Sans"/>
                <a:sym typeface="DM Sans"/>
              </a:rPr>
              <a:t>: </a:t>
            </a:r>
            <a:r>
              <a:rPr lang="en-ID" sz="3200" dirty="0">
                <a:solidFill>
                  <a:schemeClr val="bg1"/>
                </a:solidFill>
                <a:latin typeface="Nunito Sans Condensed" panose="020B0604020202020204" charset="0"/>
              </a:rPr>
              <a:t>Term Frequency–Inverse Document Frequency </a:t>
            </a:r>
            <a:r>
              <a:rPr lang="en-US" sz="3200" dirty="0">
                <a:solidFill>
                  <a:schemeClr val="bg1"/>
                </a:solidFill>
                <a:latin typeface="Nunito Sans Condensed" panose="020B0604020202020204" charset="0"/>
                <a:ea typeface="DM Sans"/>
                <a:cs typeface="DM Sans"/>
                <a:sym typeface="DM Sans"/>
              </a:rPr>
              <a:t>(TF – IDF) </a:t>
            </a:r>
          </a:p>
          <a:p>
            <a:pPr marL="690881" lvl="1" indent="-345440">
              <a:lnSpc>
                <a:spcPts val="4480"/>
              </a:lnSpc>
              <a:buFont typeface="Arial"/>
              <a:buChar char="•"/>
            </a:pPr>
            <a:r>
              <a:rPr lang="it-IT" sz="3200" b="1" dirty="0">
                <a:solidFill>
                  <a:schemeClr val="bg1"/>
                </a:solidFill>
                <a:latin typeface="Nunito Sans Condensed" panose="020B0604020202020204" charset="0"/>
              </a:rPr>
              <a:t>Pembagian Data:</a:t>
            </a:r>
            <a:r>
              <a:rPr lang="it-IT" sz="3200" dirty="0">
                <a:solidFill>
                  <a:schemeClr val="bg1"/>
                </a:solidFill>
                <a:latin typeface="Nunito Sans Condensed" panose="020B0604020202020204" charset="0"/>
              </a:rPr>
              <a:t> 75% Data Latih / 25% Data Uji (dengan </a:t>
            </a:r>
            <a:r>
              <a:rPr lang="it-IT" sz="3200" i="1" dirty="0">
                <a:solidFill>
                  <a:schemeClr val="bg1"/>
                </a:solidFill>
                <a:latin typeface="Nunito Sans Condensed" panose="020B0604020202020204" charset="0"/>
              </a:rPr>
              <a:t>Noise Label</a:t>
            </a:r>
            <a:r>
              <a:rPr lang="it-IT" sz="3200" dirty="0">
                <a:solidFill>
                  <a:schemeClr val="bg1"/>
                </a:solidFill>
                <a:latin typeface="Nunito Sans Condensed" panose="020B0604020202020204" charset="0"/>
              </a:rPr>
              <a:t> 5%).</a:t>
            </a:r>
          </a:p>
          <a:p>
            <a:pPr marL="690881" lvl="1" indent="-345440">
              <a:lnSpc>
                <a:spcPts val="4480"/>
              </a:lnSpc>
              <a:buFont typeface="Arial"/>
              <a:buChar char="•"/>
            </a:pPr>
            <a:r>
              <a:rPr lang="nl-NL" sz="3200" b="1" dirty="0">
                <a:solidFill>
                  <a:schemeClr val="bg1"/>
                </a:solidFill>
                <a:latin typeface="Nunito Sans Condensed" panose="020B0604020202020204" charset="0"/>
              </a:rPr>
              <a:t>Pemodelan &amp; Evaluasi:</a:t>
            </a:r>
            <a:r>
              <a:rPr lang="nl-NL" sz="3200" dirty="0">
                <a:solidFill>
                  <a:schemeClr val="bg1"/>
                </a:solidFill>
                <a:latin typeface="Nunito Sans Condensed" panose="020B0604020202020204" charset="0"/>
              </a:rPr>
              <a:t> SVM (Linear dan RBF).</a:t>
            </a:r>
            <a:endParaRPr lang="en-US" sz="3200" dirty="0">
              <a:solidFill>
                <a:schemeClr val="bg1"/>
              </a:solidFill>
              <a:latin typeface="Nunito Sans Condensed" panose="020B0604020202020204" charset="0"/>
              <a:ea typeface="DM Sans"/>
              <a:cs typeface="DM Sans"/>
              <a:sym typeface="DM Sans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5938533" y="1236519"/>
            <a:ext cx="6410935" cy="352711"/>
            <a:chOff x="0" y="0"/>
            <a:chExt cx="1633610" cy="898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33610" cy="89877"/>
            </a:xfrm>
            <a:custGeom>
              <a:avLst/>
              <a:gdLst/>
              <a:ahLst/>
              <a:cxnLst/>
              <a:rect l="l" t="t" r="r" b="b"/>
              <a:pathLst>
                <a:path w="1633610" h="89877">
                  <a:moveTo>
                    <a:pt x="0" y="0"/>
                  </a:moveTo>
                  <a:lnTo>
                    <a:pt x="1633610" y="0"/>
                  </a:lnTo>
                  <a:lnTo>
                    <a:pt x="1633610" y="89877"/>
                  </a:lnTo>
                  <a:lnTo>
                    <a:pt x="0" y="89877"/>
                  </a:lnTo>
                  <a:close/>
                </a:path>
              </a:pathLst>
            </a:custGeom>
            <a:solidFill>
              <a:srgbClr val="B7CADB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633610" cy="108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658062" y="559149"/>
            <a:ext cx="6971877" cy="1075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2"/>
              </a:lnSpc>
            </a:pPr>
            <a:r>
              <a:rPr lang="en-US" sz="6201" dirty="0">
                <a:solidFill>
                  <a:srgbClr val="FFFFFF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Alur </a:t>
            </a:r>
            <a:r>
              <a:rPr lang="en-US" sz="6201" dirty="0" err="1">
                <a:solidFill>
                  <a:srgbClr val="FFFFFF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Kerja</a:t>
            </a:r>
            <a:endParaRPr lang="en-US" sz="6201" dirty="0">
              <a:solidFill>
                <a:srgbClr val="FFFFFF"/>
              </a:solidFill>
              <a:latin typeface="Nunito Sans Condensed"/>
              <a:ea typeface="Nunito Sans Condensed"/>
              <a:cs typeface="Nunito Sans Condensed"/>
              <a:sym typeface="Nunito Sans Condense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7050418" y="9049203"/>
            <a:ext cx="770523" cy="77052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033176" y="9189989"/>
            <a:ext cx="805006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dirty="0">
                <a:solidFill>
                  <a:srgbClr val="6182A8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06</a:t>
            </a:r>
          </a:p>
        </p:txBody>
      </p:sp>
      <p:sp>
        <p:nvSpPr>
          <p:cNvPr id="11" name="Freeform 11"/>
          <p:cNvSpPr/>
          <p:nvPr/>
        </p:nvSpPr>
        <p:spPr>
          <a:xfrm flipH="1">
            <a:off x="15678897" y="-520262"/>
            <a:ext cx="3513563" cy="3513563"/>
          </a:xfrm>
          <a:custGeom>
            <a:avLst/>
            <a:gdLst/>
            <a:ahLst/>
            <a:cxnLst/>
            <a:rect l="l" t="t" r="r" b="b"/>
            <a:pathLst>
              <a:path w="3513563" h="3513563">
                <a:moveTo>
                  <a:pt x="3513563" y="0"/>
                </a:moveTo>
                <a:lnTo>
                  <a:pt x="0" y="0"/>
                </a:lnTo>
                <a:lnTo>
                  <a:pt x="0" y="3513563"/>
                </a:lnTo>
                <a:lnTo>
                  <a:pt x="3513563" y="3513563"/>
                </a:lnTo>
                <a:lnTo>
                  <a:pt x="351356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2" name="Freeform 12"/>
          <p:cNvSpPr/>
          <p:nvPr/>
        </p:nvSpPr>
        <p:spPr>
          <a:xfrm>
            <a:off x="1485348" y="7849829"/>
            <a:ext cx="1427502" cy="1397311"/>
          </a:xfrm>
          <a:custGeom>
            <a:avLst/>
            <a:gdLst/>
            <a:ahLst/>
            <a:cxnLst/>
            <a:rect l="l" t="t" r="r" b="b"/>
            <a:pathLst>
              <a:path w="1427502" h="1397311">
                <a:moveTo>
                  <a:pt x="0" y="0"/>
                </a:moveTo>
                <a:lnTo>
                  <a:pt x="1427502" y="0"/>
                </a:lnTo>
                <a:lnTo>
                  <a:pt x="1427502" y="1397310"/>
                </a:lnTo>
                <a:lnTo>
                  <a:pt x="0" y="13973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96617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3" name="Freeform 13"/>
          <p:cNvSpPr/>
          <p:nvPr/>
        </p:nvSpPr>
        <p:spPr>
          <a:xfrm>
            <a:off x="57845" y="6452518"/>
            <a:ext cx="1427502" cy="1397311"/>
          </a:xfrm>
          <a:custGeom>
            <a:avLst/>
            <a:gdLst/>
            <a:ahLst/>
            <a:cxnLst/>
            <a:rect l="l" t="t" r="r" b="b"/>
            <a:pathLst>
              <a:path w="1427502" h="1397311">
                <a:moveTo>
                  <a:pt x="0" y="0"/>
                </a:moveTo>
                <a:lnTo>
                  <a:pt x="1427503" y="0"/>
                </a:lnTo>
                <a:lnTo>
                  <a:pt x="1427503" y="1397311"/>
                </a:lnTo>
                <a:lnTo>
                  <a:pt x="0" y="1397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96617"/>
            </a:stretch>
          </a:blipFill>
        </p:spPr>
        <p:txBody>
          <a:bodyPr/>
          <a:lstStyle/>
          <a:p>
            <a:endParaRPr lang="en-ID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599874E-4D8C-1E27-3A9A-49A5D6FE76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31" y="416713"/>
            <a:ext cx="2489529" cy="88113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79695" y="707949"/>
            <a:ext cx="8292294" cy="320751"/>
            <a:chOff x="0" y="0"/>
            <a:chExt cx="2183979" cy="844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83979" cy="84478"/>
            </a:xfrm>
            <a:custGeom>
              <a:avLst/>
              <a:gdLst/>
              <a:ahLst/>
              <a:cxnLst/>
              <a:rect l="l" t="t" r="r" b="b"/>
              <a:pathLst>
                <a:path w="2183979" h="84478">
                  <a:moveTo>
                    <a:pt x="0" y="0"/>
                  </a:moveTo>
                  <a:lnTo>
                    <a:pt x="2183979" y="0"/>
                  </a:lnTo>
                  <a:lnTo>
                    <a:pt x="2183979" y="84478"/>
                  </a:lnTo>
                  <a:lnTo>
                    <a:pt x="0" y="84478"/>
                  </a:lnTo>
                  <a:close/>
                </a:path>
              </a:pathLst>
            </a:custGeom>
            <a:solidFill>
              <a:srgbClr val="B7CADB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83979" cy="103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050418" y="9049203"/>
            <a:ext cx="770523" cy="77052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182A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82162" y="1447522"/>
            <a:ext cx="15805917" cy="3099003"/>
            <a:chOff x="0" y="0"/>
            <a:chExt cx="4162875" cy="8161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62875" cy="816198"/>
            </a:xfrm>
            <a:custGeom>
              <a:avLst/>
              <a:gdLst/>
              <a:ahLst/>
              <a:cxnLst/>
              <a:rect l="l" t="t" r="r" b="b"/>
              <a:pathLst>
                <a:path w="4162875" h="816198">
                  <a:moveTo>
                    <a:pt x="0" y="0"/>
                  </a:moveTo>
                  <a:lnTo>
                    <a:pt x="4162875" y="0"/>
                  </a:lnTo>
                  <a:lnTo>
                    <a:pt x="4162875" y="816198"/>
                  </a:lnTo>
                  <a:lnTo>
                    <a:pt x="0" y="816198"/>
                  </a:lnTo>
                  <a:close/>
                </a:path>
              </a:pathLst>
            </a:custGeom>
            <a:solidFill>
              <a:srgbClr val="D8E2EB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4162875" cy="8352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29762" y="1295122"/>
            <a:ext cx="15805917" cy="3037508"/>
            <a:chOff x="0" y="0"/>
            <a:chExt cx="4162875" cy="8000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162875" cy="800002"/>
            </a:xfrm>
            <a:custGeom>
              <a:avLst/>
              <a:gdLst/>
              <a:ahLst/>
              <a:cxnLst/>
              <a:rect l="l" t="t" r="r" b="b"/>
              <a:pathLst>
                <a:path w="4162875" h="800002">
                  <a:moveTo>
                    <a:pt x="0" y="0"/>
                  </a:moveTo>
                  <a:lnTo>
                    <a:pt x="4162875" y="0"/>
                  </a:lnTo>
                  <a:lnTo>
                    <a:pt x="4162875" y="800002"/>
                  </a:lnTo>
                  <a:lnTo>
                    <a:pt x="0" y="800002"/>
                  </a:lnTo>
                  <a:close/>
                </a:path>
              </a:pathLst>
            </a:custGeom>
            <a:solidFill>
              <a:srgbClr val="B7CADB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4162875" cy="819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-1629762" y="6677399"/>
            <a:ext cx="3259524" cy="3259524"/>
          </a:xfrm>
          <a:custGeom>
            <a:avLst/>
            <a:gdLst/>
            <a:ahLst/>
            <a:cxnLst/>
            <a:rect l="l" t="t" r="r" b="b"/>
            <a:pathLst>
              <a:path w="3259524" h="3259524">
                <a:moveTo>
                  <a:pt x="0" y="0"/>
                </a:moveTo>
                <a:lnTo>
                  <a:pt x="3259524" y="0"/>
                </a:lnTo>
                <a:lnTo>
                  <a:pt x="3259524" y="3259523"/>
                </a:lnTo>
                <a:lnTo>
                  <a:pt x="0" y="3259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5" name="Freeform 15"/>
          <p:cNvSpPr/>
          <p:nvPr/>
        </p:nvSpPr>
        <p:spPr>
          <a:xfrm>
            <a:off x="16410680" y="7024030"/>
            <a:ext cx="1427502" cy="1397311"/>
          </a:xfrm>
          <a:custGeom>
            <a:avLst/>
            <a:gdLst/>
            <a:ahLst/>
            <a:cxnLst/>
            <a:rect l="l" t="t" r="r" b="b"/>
            <a:pathLst>
              <a:path w="1427502" h="1397311">
                <a:moveTo>
                  <a:pt x="0" y="0"/>
                </a:moveTo>
                <a:lnTo>
                  <a:pt x="1427502" y="0"/>
                </a:lnTo>
                <a:lnTo>
                  <a:pt x="1427502" y="1397310"/>
                </a:lnTo>
                <a:lnTo>
                  <a:pt x="0" y="13973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96617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6" name="Freeform 16"/>
          <p:cNvSpPr/>
          <p:nvPr/>
        </p:nvSpPr>
        <p:spPr>
          <a:xfrm>
            <a:off x="17259300" y="-368611"/>
            <a:ext cx="1427502" cy="1397311"/>
          </a:xfrm>
          <a:custGeom>
            <a:avLst/>
            <a:gdLst/>
            <a:ahLst/>
            <a:cxnLst/>
            <a:rect l="l" t="t" r="r" b="b"/>
            <a:pathLst>
              <a:path w="1427502" h="1397311">
                <a:moveTo>
                  <a:pt x="0" y="0"/>
                </a:moveTo>
                <a:lnTo>
                  <a:pt x="1427502" y="0"/>
                </a:lnTo>
                <a:lnTo>
                  <a:pt x="1427502" y="1397311"/>
                </a:lnTo>
                <a:lnTo>
                  <a:pt x="0" y="1397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96617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8" name="Freeform 18"/>
          <p:cNvSpPr/>
          <p:nvPr/>
        </p:nvSpPr>
        <p:spPr>
          <a:xfrm>
            <a:off x="7804471" y="4374529"/>
            <a:ext cx="3760805" cy="3880756"/>
          </a:xfrm>
          <a:custGeom>
            <a:avLst/>
            <a:gdLst/>
            <a:ahLst/>
            <a:cxnLst/>
            <a:rect l="l" t="t" r="r" b="b"/>
            <a:pathLst>
              <a:path w="3760805" h="3880756">
                <a:moveTo>
                  <a:pt x="0" y="0"/>
                </a:moveTo>
                <a:lnTo>
                  <a:pt x="3760805" y="0"/>
                </a:lnTo>
                <a:lnTo>
                  <a:pt x="3760805" y="3880756"/>
                </a:lnTo>
                <a:lnTo>
                  <a:pt x="0" y="38807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0" name="TextBox 20"/>
          <p:cNvSpPr txBox="1"/>
          <p:nvPr/>
        </p:nvSpPr>
        <p:spPr>
          <a:xfrm>
            <a:off x="3906483" y="20014"/>
            <a:ext cx="11130985" cy="961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ID" sz="4000" dirty="0" err="1"/>
              <a:t>Pengolahan</a:t>
            </a:r>
            <a:r>
              <a:rPr lang="en-ID" sz="4000" dirty="0"/>
              <a:t> &amp; </a:t>
            </a:r>
            <a:r>
              <a:rPr lang="en-ID" sz="4000" dirty="0" err="1"/>
              <a:t>Penyeimbangan</a:t>
            </a:r>
            <a:r>
              <a:rPr lang="en-ID" sz="4000" dirty="0"/>
              <a:t> Data</a:t>
            </a:r>
            <a:endParaRPr lang="en-US" sz="4000" dirty="0">
              <a:solidFill>
                <a:srgbClr val="000000"/>
              </a:solidFill>
              <a:latin typeface="Nunito Sans Condensed"/>
              <a:ea typeface="Nunito Sans Condensed"/>
              <a:cs typeface="Nunito Sans Condensed"/>
              <a:sym typeface="Nunito Sans Condense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7033176" y="9189989"/>
            <a:ext cx="805006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dirty="0">
                <a:solidFill>
                  <a:srgbClr val="FFFFFF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07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A7350CC-E9B0-DBF6-145D-D06D6E73CA5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365" t="10901"/>
          <a:stretch>
            <a:fillRect/>
          </a:stretch>
        </p:blipFill>
        <p:spPr>
          <a:xfrm>
            <a:off x="1094249" y="4412700"/>
            <a:ext cx="5721690" cy="278362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D1561B7-9862-3A82-335F-8607667946E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44218"/>
          <a:stretch>
            <a:fillRect/>
          </a:stretch>
        </p:blipFill>
        <p:spPr>
          <a:xfrm>
            <a:off x="12700578" y="6811377"/>
            <a:ext cx="4887007" cy="770523"/>
          </a:xfrm>
          <a:prstGeom prst="rect">
            <a:avLst/>
          </a:prstGeom>
        </p:spPr>
      </p:pic>
      <p:graphicFrame>
        <p:nvGraphicFramePr>
          <p:cNvPr id="30" name="TextBox 22">
            <a:extLst>
              <a:ext uri="{FF2B5EF4-FFF2-40B4-BE49-F238E27FC236}">
                <a16:creationId xmlns:a16="http://schemas.microsoft.com/office/drawing/2014/main" id="{DD2784A9-2E43-F8FE-CF6F-AF1E5227AB44}"/>
              </a:ext>
            </a:extLst>
          </p:cNvPr>
          <p:cNvGraphicFramePr/>
          <p:nvPr/>
        </p:nvGraphicFramePr>
        <p:xfrm>
          <a:off x="1609728" y="1388823"/>
          <a:ext cx="15724496" cy="28642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pic>
        <p:nvPicPr>
          <p:cNvPr id="31" name="Picture 30">
            <a:extLst>
              <a:ext uri="{FF2B5EF4-FFF2-40B4-BE49-F238E27FC236}">
                <a16:creationId xmlns:a16="http://schemas.microsoft.com/office/drawing/2014/main" id="{BC42AA44-6270-E0E1-08A1-37681B98F25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701260" y="4732227"/>
            <a:ext cx="4886325" cy="2076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21226" y="687450"/>
            <a:ext cx="9045548" cy="320666"/>
            <a:chOff x="0" y="0"/>
            <a:chExt cx="2382367" cy="844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82367" cy="84455"/>
            </a:xfrm>
            <a:custGeom>
              <a:avLst/>
              <a:gdLst/>
              <a:ahLst/>
              <a:cxnLst/>
              <a:rect l="l" t="t" r="r" b="b"/>
              <a:pathLst>
                <a:path w="2382367" h="84455">
                  <a:moveTo>
                    <a:pt x="0" y="0"/>
                  </a:moveTo>
                  <a:lnTo>
                    <a:pt x="2382367" y="0"/>
                  </a:lnTo>
                  <a:lnTo>
                    <a:pt x="2382367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B7CADB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382367" cy="103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050418" y="9049203"/>
            <a:ext cx="770523" cy="77052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182A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831798" y="1028700"/>
            <a:ext cx="1427502" cy="1397311"/>
          </a:xfrm>
          <a:custGeom>
            <a:avLst/>
            <a:gdLst/>
            <a:ahLst/>
            <a:cxnLst/>
            <a:rect l="l" t="t" r="r" b="b"/>
            <a:pathLst>
              <a:path w="1427502" h="1397311">
                <a:moveTo>
                  <a:pt x="0" y="0"/>
                </a:moveTo>
                <a:lnTo>
                  <a:pt x="1427502" y="0"/>
                </a:lnTo>
                <a:lnTo>
                  <a:pt x="1427502" y="1397311"/>
                </a:lnTo>
                <a:lnTo>
                  <a:pt x="0" y="13973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96617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9" name="Freeform 9"/>
          <p:cNvSpPr/>
          <p:nvPr/>
        </p:nvSpPr>
        <p:spPr>
          <a:xfrm>
            <a:off x="17259300" y="-368611"/>
            <a:ext cx="1427502" cy="1397311"/>
          </a:xfrm>
          <a:custGeom>
            <a:avLst/>
            <a:gdLst/>
            <a:ahLst/>
            <a:cxnLst/>
            <a:rect l="l" t="t" r="r" b="b"/>
            <a:pathLst>
              <a:path w="1427502" h="1397311">
                <a:moveTo>
                  <a:pt x="0" y="0"/>
                </a:moveTo>
                <a:lnTo>
                  <a:pt x="1427502" y="0"/>
                </a:lnTo>
                <a:lnTo>
                  <a:pt x="1427502" y="1397311"/>
                </a:lnTo>
                <a:lnTo>
                  <a:pt x="0" y="13973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96617"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10" name="Group 10"/>
          <p:cNvGrpSpPr/>
          <p:nvPr/>
        </p:nvGrpSpPr>
        <p:grpSpPr>
          <a:xfrm>
            <a:off x="812840" y="2298855"/>
            <a:ext cx="4368252" cy="1935987"/>
            <a:chOff x="0" y="0"/>
            <a:chExt cx="1150486" cy="74920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50486" cy="749207"/>
            </a:xfrm>
            <a:custGeom>
              <a:avLst/>
              <a:gdLst/>
              <a:ahLst/>
              <a:cxnLst/>
              <a:rect l="l" t="t" r="r" b="b"/>
              <a:pathLst>
                <a:path w="1150486" h="749207">
                  <a:moveTo>
                    <a:pt x="0" y="0"/>
                  </a:moveTo>
                  <a:lnTo>
                    <a:pt x="1150486" y="0"/>
                  </a:lnTo>
                  <a:lnTo>
                    <a:pt x="1150486" y="749207"/>
                  </a:lnTo>
                  <a:lnTo>
                    <a:pt x="0" y="749207"/>
                  </a:lnTo>
                  <a:close/>
                </a:path>
              </a:pathLst>
            </a:custGeom>
            <a:solidFill>
              <a:srgbClr val="D8E2EB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1150486" cy="7682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7749" y="2146455"/>
            <a:ext cx="4368252" cy="1854045"/>
            <a:chOff x="0" y="0"/>
            <a:chExt cx="1150486" cy="73191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50486" cy="731910"/>
            </a:xfrm>
            <a:custGeom>
              <a:avLst/>
              <a:gdLst/>
              <a:ahLst/>
              <a:cxnLst/>
              <a:rect l="l" t="t" r="r" b="b"/>
              <a:pathLst>
                <a:path w="1150486" h="731910">
                  <a:moveTo>
                    <a:pt x="0" y="0"/>
                  </a:moveTo>
                  <a:lnTo>
                    <a:pt x="1150486" y="0"/>
                  </a:lnTo>
                  <a:lnTo>
                    <a:pt x="1150486" y="731910"/>
                  </a:lnTo>
                  <a:lnTo>
                    <a:pt x="0" y="731910"/>
                  </a:lnTo>
                  <a:close/>
                </a:path>
              </a:pathLst>
            </a:custGeom>
            <a:solidFill>
              <a:srgbClr val="B7CADB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150486" cy="750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68475" y="2527086"/>
            <a:ext cx="5062768" cy="1035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2" lvl="1" indent="-313056" algn="just">
              <a:lnSpc>
                <a:spcPts val="4060"/>
              </a:lnSpc>
              <a:buFont typeface="Arial"/>
              <a:buChar char="•"/>
            </a:pPr>
            <a:r>
              <a:rPr lang="en-ID" sz="3200" dirty="0" err="1">
                <a:latin typeface="Nunito Sans Condensed" panose="020B0604020202020204" charset="0"/>
              </a:rPr>
              <a:t>Menguji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kernelLinear</a:t>
            </a:r>
            <a:endParaRPr lang="en-ID" sz="3200" dirty="0">
              <a:latin typeface="Nunito Sans Condensed" panose="020B0604020202020204" charset="0"/>
            </a:endParaRPr>
          </a:p>
          <a:p>
            <a:pPr marL="626112" lvl="1" indent="-313056" algn="just">
              <a:lnSpc>
                <a:spcPts val="4060"/>
              </a:lnSpc>
              <a:buFont typeface="Arial"/>
              <a:buChar char="•"/>
            </a:pPr>
            <a:r>
              <a:rPr lang="en-ID" sz="3200" dirty="0" err="1">
                <a:latin typeface="Nunito Sans Condensed" panose="020B0604020202020204" charset="0"/>
              </a:rPr>
              <a:t>Menguji</a:t>
            </a:r>
            <a:r>
              <a:rPr lang="en-ID" sz="3200" dirty="0">
                <a:latin typeface="Nunito Sans Condensed" panose="020B0604020202020204" charset="0"/>
              </a:rPr>
              <a:t> kernel RBF</a:t>
            </a:r>
            <a:endParaRPr lang="en-US" sz="2900" dirty="0">
              <a:solidFill>
                <a:srgbClr val="000000"/>
              </a:solidFill>
              <a:latin typeface="Nunito Sans Condensed" panose="020B0604020202020204" charset="0"/>
              <a:ea typeface="DM Sans"/>
              <a:cs typeface="DM Sans"/>
              <a:sym typeface="DM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706688" y="3636656"/>
            <a:ext cx="4339457" cy="411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b="1" dirty="0">
                <a:solidFill>
                  <a:srgbClr val="000000"/>
                </a:solidFill>
                <a:latin typeface="Nunito Sans Condensed" panose="020B0604020202020204" charset="0"/>
                <a:ea typeface="Nunito Sans Condensed Bold"/>
                <a:cs typeface="Nunito Sans Condensed Bold"/>
                <a:sym typeface="Nunito Sans Condensed Bold"/>
              </a:rPr>
              <a:t>2. </a:t>
            </a:r>
            <a:r>
              <a:rPr lang="en-ID" sz="3200" b="1" dirty="0" err="1">
                <a:latin typeface="Nunito Sans Condensed" panose="020B0604020202020204" charset="0"/>
              </a:rPr>
              <a:t>Ekstraksi</a:t>
            </a:r>
            <a:r>
              <a:rPr lang="en-ID" sz="3200" b="1" dirty="0">
                <a:latin typeface="Nunito Sans Condensed" panose="020B0604020202020204" charset="0"/>
              </a:rPr>
              <a:t> Fitur</a:t>
            </a:r>
            <a:endParaRPr lang="en-US" sz="3000" b="1" dirty="0">
              <a:solidFill>
                <a:srgbClr val="000000"/>
              </a:solidFill>
              <a:latin typeface="Nunito Sans Condensed" panose="020B0604020202020204" charset="0"/>
              <a:ea typeface="Nunito Sans Condensed Bold"/>
              <a:cs typeface="Nunito Sans Condensed Bold"/>
              <a:sym typeface="Nunito Sans Condensed Bold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5720031" y="4491840"/>
            <a:ext cx="4698615" cy="2211994"/>
            <a:chOff x="0" y="0"/>
            <a:chExt cx="1275338" cy="60039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75338" cy="600398"/>
            </a:xfrm>
            <a:custGeom>
              <a:avLst/>
              <a:gdLst/>
              <a:ahLst/>
              <a:cxnLst/>
              <a:rect l="l" t="t" r="r" b="b"/>
              <a:pathLst>
                <a:path w="1275338" h="600398">
                  <a:moveTo>
                    <a:pt x="0" y="0"/>
                  </a:moveTo>
                  <a:lnTo>
                    <a:pt x="1275338" y="0"/>
                  </a:lnTo>
                  <a:lnTo>
                    <a:pt x="1275338" y="600398"/>
                  </a:lnTo>
                  <a:lnTo>
                    <a:pt x="0" y="600398"/>
                  </a:lnTo>
                  <a:close/>
                </a:path>
              </a:pathLst>
            </a:custGeom>
            <a:solidFill>
              <a:srgbClr val="D8E2EB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275338" cy="619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42455" y="4417706"/>
            <a:ext cx="4698615" cy="2078990"/>
            <a:chOff x="0" y="0"/>
            <a:chExt cx="1275338" cy="56429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75338" cy="564297"/>
            </a:xfrm>
            <a:custGeom>
              <a:avLst/>
              <a:gdLst/>
              <a:ahLst/>
              <a:cxnLst/>
              <a:rect l="l" t="t" r="r" b="b"/>
              <a:pathLst>
                <a:path w="1275338" h="564297">
                  <a:moveTo>
                    <a:pt x="0" y="0"/>
                  </a:moveTo>
                  <a:lnTo>
                    <a:pt x="1275338" y="0"/>
                  </a:lnTo>
                  <a:lnTo>
                    <a:pt x="1275338" y="564297"/>
                  </a:lnTo>
                  <a:lnTo>
                    <a:pt x="0" y="564297"/>
                  </a:lnTo>
                  <a:close/>
                </a:path>
              </a:pathLst>
            </a:custGeom>
            <a:solidFill>
              <a:srgbClr val="B7CADB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1275338" cy="583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549508" y="5317972"/>
            <a:ext cx="4339457" cy="411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b="1" dirty="0">
                <a:solidFill>
                  <a:srgbClr val="000000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3. </a:t>
            </a:r>
            <a:r>
              <a:rPr lang="en-ID" sz="3200" b="1" dirty="0" err="1"/>
              <a:t>Rasio</a:t>
            </a:r>
            <a:r>
              <a:rPr lang="en-ID" sz="3200" b="1" dirty="0"/>
              <a:t> Data</a:t>
            </a:r>
            <a:endParaRPr lang="en-US" sz="3000" b="1" dirty="0">
              <a:solidFill>
                <a:srgbClr val="000000"/>
              </a:solidFill>
              <a:latin typeface="Nunito Sans Condensed Bold"/>
              <a:ea typeface="Nunito Sans Condensed Bold"/>
              <a:cs typeface="Nunito Sans Condensed Bold"/>
              <a:sym typeface="Nunito Sans Condensed Bold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11562852" y="6246900"/>
            <a:ext cx="4698615" cy="2211994"/>
            <a:chOff x="0" y="0"/>
            <a:chExt cx="1275338" cy="60039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75338" cy="600398"/>
            </a:xfrm>
            <a:custGeom>
              <a:avLst/>
              <a:gdLst/>
              <a:ahLst/>
              <a:cxnLst/>
              <a:rect l="l" t="t" r="r" b="b"/>
              <a:pathLst>
                <a:path w="1275338" h="600398">
                  <a:moveTo>
                    <a:pt x="0" y="0"/>
                  </a:moveTo>
                  <a:lnTo>
                    <a:pt x="1275338" y="0"/>
                  </a:lnTo>
                  <a:lnTo>
                    <a:pt x="1275338" y="600398"/>
                  </a:lnTo>
                  <a:lnTo>
                    <a:pt x="0" y="600398"/>
                  </a:lnTo>
                  <a:close/>
                </a:path>
              </a:pathLst>
            </a:custGeom>
            <a:solidFill>
              <a:srgbClr val="D8E2EB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1275338" cy="619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379585" y="6231750"/>
            <a:ext cx="4698615" cy="2078990"/>
            <a:chOff x="0" y="0"/>
            <a:chExt cx="1275338" cy="56429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75338" cy="564297"/>
            </a:xfrm>
            <a:custGeom>
              <a:avLst/>
              <a:gdLst/>
              <a:ahLst/>
              <a:cxnLst/>
              <a:rect l="l" t="t" r="r" b="b"/>
              <a:pathLst>
                <a:path w="1275338" h="564297">
                  <a:moveTo>
                    <a:pt x="0" y="0"/>
                  </a:moveTo>
                  <a:lnTo>
                    <a:pt x="1275338" y="0"/>
                  </a:lnTo>
                  <a:lnTo>
                    <a:pt x="1275338" y="564297"/>
                  </a:lnTo>
                  <a:lnTo>
                    <a:pt x="0" y="564297"/>
                  </a:lnTo>
                  <a:close/>
                </a:path>
              </a:pathLst>
            </a:custGeom>
            <a:solidFill>
              <a:srgbClr val="B7CADB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1275338" cy="583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811981" y="1365405"/>
            <a:ext cx="3704003" cy="795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b="1" dirty="0">
                <a:solidFill>
                  <a:srgbClr val="000000"/>
                </a:solidFill>
                <a:latin typeface="Nunito Sans Condensed" panose="020B0604020202020204" charset="0"/>
                <a:ea typeface="Nunito Sans Condensed Bold"/>
                <a:cs typeface="Nunito Sans Condensed Bold"/>
                <a:sym typeface="Nunito Sans Condensed Bold"/>
              </a:rPr>
              <a:t>1. </a:t>
            </a:r>
            <a:r>
              <a:rPr lang="en-ID" sz="3200" b="1" dirty="0" err="1">
                <a:latin typeface="Nunito Sans Condensed" panose="020B0604020202020204" charset="0"/>
              </a:rPr>
              <a:t>Konfigurasi</a:t>
            </a:r>
            <a:r>
              <a:rPr lang="en-ID" sz="3200" b="1" dirty="0">
                <a:latin typeface="Nunito Sans Condensed" panose="020B0604020202020204" charset="0"/>
              </a:rPr>
              <a:t> </a:t>
            </a:r>
            <a:r>
              <a:rPr lang="en-ID" sz="3200" b="1" dirty="0" err="1">
                <a:latin typeface="Nunito Sans Condensed" panose="020B0604020202020204" charset="0"/>
              </a:rPr>
              <a:t>Eksperimen</a:t>
            </a:r>
            <a:endParaRPr lang="en-US" sz="3000" b="1" dirty="0">
              <a:solidFill>
                <a:srgbClr val="000000"/>
              </a:solidFill>
              <a:latin typeface="Nunito Sans Condensed" panose="020B0604020202020204" charset="0"/>
              <a:ea typeface="Nunito Sans Condensed Bold"/>
              <a:cs typeface="Nunito Sans Condensed Bold"/>
              <a:sym typeface="Nunito Sans Condensed Bol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4621226" y="-104775"/>
            <a:ext cx="9045548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dirty="0" err="1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Pelatihan</a:t>
            </a:r>
            <a:r>
              <a:rPr lang="en-US" sz="5999" dirty="0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 Model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7033176" y="9189989"/>
            <a:ext cx="805006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dirty="0">
                <a:solidFill>
                  <a:srgbClr val="FFFFFF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08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444992" y="4563855"/>
            <a:ext cx="4673296" cy="156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3056" lvl="1" algn="just">
              <a:lnSpc>
                <a:spcPts val="4060"/>
              </a:lnSpc>
            </a:pPr>
            <a:r>
              <a:rPr lang="en-ID" sz="3200" dirty="0" err="1">
                <a:latin typeface="Nunito Sans Condensed" panose="020B0604020202020204" charset="0"/>
              </a:rPr>
              <a:t>Menggunakan</a:t>
            </a:r>
            <a:r>
              <a:rPr lang="en-ID" sz="3200" dirty="0">
                <a:latin typeface="Nunito Sans Condensed" panose="020B0604020202020204" charset="0"/>
              </a:rPr>
              <a:t> TF-IDF </a:t>
            </a:r>
            <a:r>
              <a:rPr lang="en-ID" sz="3200" dirty="0" err="1">
                <a:latin typeface="Nunito Sans Condensed" panose="020B0604020202020204" charset="0"/>
              </a:rPr>
              <a:t>dengan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jumlah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fitur</a:t>
            </a:r>
            <a:r>
              <a:rPr lang="en-ID" sz="3200" dirty="0">
                <a:latin typeface="Nunito Sans Condensed" panose="020B0604020202020204" charset="0"/>
              </a:rPr>
              <a:t> </a:t>
            </a:r>
            <a:r>
              <a:rPr lang="en-ID" sz="3200" dirty="0" err="1">
                <a:latin typeface="Nunito Sans Condensed" panose="020B0604020202020204" charset="0"/>
              </a:rPr>
              <a:t>maksimum</a:t>
            </a:r>
            <a:r>
              <a:rPr lang="en-ID" sz="3200" dirty="0">
                <a:latin typeface="Nunito Sans Condensed" panose="020B0604020202020204" charset="0"/>
              </a:rPr>
              <a:t> 1.000</a:t>
            </a:r>
            <a:endParaRPr lang="en-US" sz="3200" dirty="0">
              <a:solidFill>
                <a:srgbClr val="000000"/>
              </a:solidFill>
              <a:latin typeface="Nunito Sans Condensed" panose="020B0604020202020204" charset="0"/>
              <a:ea typeface="DM Sans"/>
              <a:cs typeface="DM Sans"/>
              <a:sym typeface="DM Sans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1482738" y="6719312"/>
            <a:ext cx="4503689" cy="1043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3200" dirty="0">
                <a:solidFill>
                  <a:srgbClr val="000000"/>
                </a:solidFill>
                <a:latin typeface="Nunito Sans Condensed" panose="020B0604020202020204" charset="0"/>
                <a:ea typeface="DM Sans"/>
                <a:cs typeface="DM Sans"/>
                <a:sym typeface="DM Sans"/>
              </a:rPr>
              <a:t>75 % data </a:t>
            </a:r>
            <a:r>
              <a:rPr lang="en-US" sz="3200" dirty="0" err="1">
                <a:solidFill>
                  <a:srgbClr val="000000"/>
                </a:solidFill>
                <a:latin typeface="Nunito Sans Condensed" panose="020B0604020202020204" charset="0"/>
                <a:ea typeface="DM Sans"/>
                <a:cs typeface="DM Sans"/>
                <a:sym typeface="DM Sans"/>
              </a:rPr>
              <a:t>latih</a:t>
            </a:r>
            <a:br>
              <a:rPr lang="en-US" sz="3200" dirty="0">
                <a:solidFill>
                  <a:srgbClr val="000000"/>
                </a:solidFill>
                <a:latin typeface="Nunito Sans Condensed" panose="020B0604020202020204" charset="0"/>
                <a:ea typeface="DM Sans"/>
                <a:cs typeface="DM Sans"/>
                <a:sym typeface="DM Sans"/>
              </a:rPr>
            </a:br>
            <a:r>
              <a:rPr lang="en-US" sz="3200" dirty="0">
                <a:solidFill>
                  <a:srgbClr val="000000"/>
                </a:solidFill>
                <a:latin typeface="Nunito Sans Condensed" panose="020B0604020202020204" charset="0"/>
                <a:ea typeface="DM Sans"/>
                <a:cs typeface="DM Sans"/>
                <a:sym typeface="DM Sans"/>
              </a:rPr>
              <a:t>25 % data uji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85869" y="858075"/>
            <a:ext cx="7212100" cy="341250"/>
            <a:chOff x="0" y="0"/>
            <a:chExt cx="1899483" cy="898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99483" cy="89877"/>
            </a:xfrm>
            <a:custGeom>
              <a:avLst/>
              <a:gdLst/>
              <a:ahLst/>
              <a:cxnLst/>
              <a:rect l="l" t="t" r="r" b="b"/>
              <a:pathLst>
                <a:path w="1899483" h="89877">
                  <a:moveTo>
                    <a:pt x="0" y="0"/>
                  </a:moveTo>
                  <a:lnTo>
                    <a:pt x="1899483" y="0"/>
                  </a:lnTo>
                  <a:lnTo>
                    <a:pt x="1899483" y="89877"/>
                  </a:lnTo>
                  <a:lnTo>
                    <a:pt x="0" y="89877"/>
                  </a:lnTo>
                  <a:close/>
                </a:path>
              </a:pathLst>
            </a:custGeom>
            <a:solidFill>
              <a:srgbClr val="B7CADB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899483" cy="108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050418" y="9049203"/>
            <a:ext cx="770523" cy="77052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182A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649299" y="9121435"/>
            <a:ext cx="1122334" cy="626058"/>
            <a:chOff x="0" y="0"/>
            <a:chExt cx="812800" cy="4533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453394"/>
            </a:xfrm>
            <a:custGeom>
              <a:avLst/>
              <a:gdLst/>
              <a:ahLst/>
              <a:cxnLst/>
              <a:rect l="l" t="t" r="r" b="b"/>
              <a:pathLst>
                <a:path w="812800" h="453394">
                  <a:moveTo>
                    <a:pt x="0" y="0"/>
                  </a:moveTo>
                  <a:lnTo>
                    <a:pt x="609600" y="0"/>
                  </a:lnTo>
                  <a:lnTo>
                    <a:pt x="812800" y="226697"/>
                  </a:lnTo>
                  <a:lnTo>
                    <a:pt x="609600" y="453394"/>
                  </a:lnTo>
                  <a:lnTo>
                    <a:pt x="0" y="453394"/>
                  </a:lnTo>
                  <a:lnTo>
                    <a:pt x="203200" y="226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A3C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800" y="-9525"/>
              <a:ext cx="558800" cy="462919"/>
            </a:xfrm>
            <a:prstGeom prst="rect">
              <a:avLst/>
            </a:prstGeom>
          </p:spPr>
          <p:txBody>
            <a:bodyPr lIns="13223" tIns="13223" rIns="13223" bIns="13223" rtlCol="0" anchor="ctr"/>
            <a:lstStyle/>
            <a:p>
              <a:pPr algn="ctr">
                <a:lnSpc>
                  <a:spcPts val="30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592601" y="9121435"/>
            <a:ext cx="1122334" cy="626058"/>
            <a:chOff x="0" y="0"/>
            <a:chExt cx="812800" cy="45339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453394"/>
            </a:xfrm>
            <a:custGeom>
              <a:avLst/>
              <a:gdLst/>
              <a:ahLst/>
              <a:cxnLst/>
              <a:rect l="l" t="t" r="r" b="b"/>
              <a:pathLst>
                <a:path w="812800" h="453394">
                  <a:moveTo>
                    <a:pt x="0" y="0"/>
                  </a:moveTo>
                  <a:lnTo>
                    <a:pt x="609600" y="0"/>
                  </a:lnTo>
                  <a:lnTo>
                    <a:pt x="812800" y="226697"/>
                  </a:lnTo>
                  <a:lnTo>
                    <a:pt x="609600" y="453394"/>
                  </a:lnTo>
                  <a:lnTo>
                    <a:pt x="0" y="453394"/>
                  </a:lnTo>
                  <a:lnTo>
                    <a:pt x="203200" y="226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7CADB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7800" y="-9525"/>
              <a:ext cx="558800" cy="462919"/>
            </a:xfrm>
            <a:prstGeom prst="rect">
              <a:avLst/>
            </a:prstGeom>
          </p:spPr>
          <p:txBody>
            <a:bodyPr lIns="13223" tIns="13223" rIns="13223" bIns="13223" rtlCol="0" anchor="ctr"/>
            <a:lstStyle/>
            <a:p>
              <a:pPr algn="ctr">
                <a:lnSpc>
                  <a:spcPts val="30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535904" y="9121435"/>
            <a:ext cx="1122334" cy="626058"/>
            <a:chOff x="0" y="0"/>
            <a:chExt cx="812800" cy="45339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453394"/>
            </a:xfrm>
            <a:custGeom>
              <a:avLst/>
              <a:gdLst/>
              <a:ahLst/>
              <a:cxnLst/>
              <a:rect l="l" t="t" r="r" b="b"/>
              <a:pathLst>
                <a:path w="812800" h="453394">
                  <a:moveTo>
                    <a:pt x="0" y="0"/>
                  </a:moveTo>
                  <a:lnTo>
                    <a:pt x="609600" y="0"/>
                  </a:lnTo>
                  <a:lnTo>
                    <a:pt x="812800" y="226697"/>
                  </a:lnTo>
                  <a:lnTo>
                    <a:pt x="609600" y="453394"/>
                  </a:lnTo>
                  <a:lnTo>
                    <a:pt x="0" y="453394"/>
                  </a:lnTo>
                  <a:lnTo>
                    <a:pt x="203200" y="226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E2EB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7800" y="-9525"/>
              <a:ext cx="558800" cy="462919"/>
            </a:xfrm>
            <a:prstGeom prst="rect">
              <a:avLst/>
            </a:prstGeom>
          </p:spPr>
          <p:txBody>
            <a:bodyPr lIns="13223" tIns="13223" rIns="13223" bIns="13223" rtlCol="0" anchor="ctr"/>
            <a:lstStyle/>
            <a:p>
              <a:pPr algn="ctr">
                <a:lnSpc>
                  <a:spcPts val="309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705996" y="9121435"/>
            <a:ext cx="1122334" cy="626058"/>
            <a:chOff x="0" y="0"/>
            <a:chExt cx="812800" cy="45339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453394"/>
            </a:xfrm>
            <a:custGeom>
              <a:avLst/>
              <a:gdLst/>
              <a:ahLst/>
              <a:cxnLst/>
              <a:rect l="l" t="t" r="r" b="b"/>
              <a:pathLst>
                <a:path w="812800" h="453394">
                  <a:moveTo>
                    <a:pt x="0" y="0"/>
                  </a:moveTo>
                  <a:lnTo>
                    <a:pt x="609600" y="0"/>
                  </a:lnTo>
                  <a:lnTo>
                    <a:pt x="812800" y="226697"/>
                  </a:lnTo>
                  <a:lnTo>
                    <a:pt x="609600" y="453394"/>
                  </a:lnTo>
                  <a:lnTo>
                    <a:pt x="0" y="453394"/>
                  </a:lnTo>
                  <a:lnTo>
                    <a:pt x="203200" y="226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182A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7800" y="-9525"/>
              <a:ext cx="558800" cy="462919"/>
            </a:xfrm>
            <a:prstGeom prst="rect">
              <a:avLst/>
            </a:prstGeom>
          </p:spPr>
          <p:txBody>
            <a:bodyPr lIns="13223" tIns="13223" rIns="13223" bIns="13223" rtlCol="0" anchor="ctr"/>
            <a:lstStyle/>
            <a:p>
              <a:pPr algn="ctr">
                <a:lnSpc>
                  <a:spcPts val="309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85800" y="5955838"/>
            <a:ext cx="3790033" cy="1264078"/>
            <a:chOff x="0" y="0"/>
            <a:chExt cx="998198" cy="33292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98198" cy="332926"/>
            </a:xfrm>
            <a:custGeom>
              <a:avLst/>
              <a:gdLst/>
              <a:ahLst/>
              <a:cxnLst/>
              <a:rect l="l" t="t" r="r" b="b"/>
              <a:pathLst>
                <a:path w="998198" h="332926">
                  <a:moveTo>
                    <a:pt x="0" y="0"/>
                  </a:moveTo>
                  <a:lnTo>
                    <a:pt x="998198" y="0"/>
                  </a:lnTo>
                  <a:lnTo>
                    <a:pt x="998198" y="332926"/>
                  </a:lnTo>
                  <a:lnTo>
                    <a:pt x="0" y="332926"/>
                  </a:lnTo>
                  <a:close/>
                </a:path>
              </a:pathLst>
            </a:custGeom>
            <a:solidFill>
              <a:srgbClr val="B7CADB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998198" cy="351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479409" y="6438900"/>
            <a:ext cx="3975166" cy="1825172"/>
            <a:chOff x="0" y="0"/>
            <a:chExt cx="1160162" cy="53268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60162" cy="532681"/>
            </a:xfrm>
            <a:custGeom>
              <a:avLst/>
              <a:gdLst/>
              <a:ahLst/>
              <a:cxnLst/>
              <a:rect l="l" t="t" r="r" b="b"/>
              <a:pathLst>
                <a:path w="1160162" h="532681">
                  <a:moveTo>
                    <a:pt x="0" y="0"/>
                  </a:moveTo>
                  <a:lnTo>
                    <a:pt x="1160162" y="0"/>
                  </a:lnTo>
                  <a:lnTo>
                    <a:pt x="1160162" y="532681"/>
                  </a:lnTo>
                  <a:lnTo>
                    <a:pt x="0" y="532681"/>
                  </a:lnTo>
                  <a:close/>
                </a:path>
              </a:pathLst>
            </a:custGeom>
            <a:solidFill>
              <a:srgbClr val="B7CADB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1160162" cy="5517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7754372" y="39298"/>
            <a:ext cx="10533628" cy="1037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ID" sz="6000" dirty="0"/>
              <a:t>Hasil </a:t>
            </a:r>
            <a:r>
              <a:rPr lang="en-ID" sz="6000" dirty="0" err="1"/>
              <a:t>Evaluasi</a:t>
            </a:r>
            <a:r>
              <a:rPr lang="en-ID" sz="6000" dirty="0"/>
              <a:t> Model SVM</a:t>
            </a:r>
            <a:endParaRPr lang="en-US" sz="5999" dirty="0">
              <a:solidFill>
                <a:srgbClr val="000000"/>
              </a:solidFill>
              <a:latin typeface="Nunito Sans Condensed"/>
              <a:ea typeface="Nunito Sans Condensed"/>
              <a:cs typeface="Nunito Sans Condensed"/>
              <a:sym typeface="Nunito Sans Condense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7033176" y="9189989"/>
            <a:ext cx="805006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dirty="0">
                <a:solidFill>
                  <a:srgbClr val="FFFFFF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09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2684994" y="5600042"/>
            <a:ext cx="5078135" cy="2252874"/>
            <a:chOff x="0" y="0"/>
            <a:chExt cx="1482066" cy="65750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482066" cy="657507"/>
            </a:xfrm>
            <a:custGeom>
              <a:avLst/>
              <a:gdLst/>
              <a:ahLst/>
              <a:cxnLst/>
              <a:rect l="l" t="t" r="r" b="b"/>
              <a:pathLst>
                <a:path w="1482066" h="657507">
                  <a:moveTo>
                    <a:pt x="0" y="0"/>
                  </a:moveTo>
                  <a:lnTo>
                    <a:pt x="1482066" y="0"/>
                  </a:lnTo>
                  <a:lnTo>
                    <a:pt x="1482066" y="657507"/>
                  </a:lnTo>
                  <a:lnTo>
                    <a:pt x="0" y="657507"/>
                  </a:lnTo>
                  <a:close/>
                </a:path>
              </a:pathLst>
            </a:custGeom>
            <a:solidFill>
              <a:srgbClr val="B7CADB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1482066" cy="676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2728437" y="5792787"/>
            <a:ext cx="5157606" cy="1590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00"/>
              </a:lnSpc>
              <a:spcBef>
                <a:spcPct val="0"/>
              </a:spcBef>
            </a:pPr>
            <a:r>
              <a:rPr lang="en-ID" sz="2500" b="1" dirty="0">
                <a:latin typeface="Nunito Sans Condensed" panose="020B0604020202020204" charset="0"/>
              </a:rPr>
              <a:t>Recall </a:t>
            </a:r>
            <a:r>
              <a:rPr lang="en-ID" sz="2500" b="1" dirty="0" err="1">
                <a:latin typeface="Nunito Sans Condensed" panose="020B0604020202020204" charset="0"/>
              </a:rPr>
              <a:t>Terbaik</a:t>
            </a:r>
            <a:endParaRPr lang="en-ID" sz="2500" b="1" dirty="0">
              <a:latin typeface="Nunito Sans Condensed" panose="020B0604020202020204" charset="0"/>
            </a:endParaRPr>
          </a:p>
          <a:p>
            <a:pPr algn="ctr">
              <a:lnSpc>
                <a:spcPts val="3100"/>
              </a:lnSpc>
              <a:spcBef>
                <a:spcPct val="0"/>
              </a:spcBef>
            </a:pPr>
            <a:r>
              <a:rPr lang="en-ID" sz="2500" dirty="0">
                <a:latin typeface="Nunito Sans Condensed" panose="020B0604020202020204" charset="0"/>
              </a:rPr>
              <a:t>RBF (80,47 %), </a:t>
            </a:r>
            <a:r>
              <a:rPr lang="en-ID" sz="2500" dirty="0" err="1">
                <a:latin typeface="Nunito Sans Condensed" panose="020B0604020202020204" charset="0"/>
              </a:rPr>
              <a:t>menunjukkan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kemampuan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tinggi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dalam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mendeteksi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berita</a:t>
            </a:r>
            <a:r>
              <a:rPr lang="en-ID" sz="2500" dirty="0">
                <a:latin typeface="Nunito Sans Condensed" panose="020B0604020202020204" charset="0"/>
              </a:rPr>
              <a:t> yang </a:t>
            </a:r>
            <a:r>
              <a:rPr lang="en-ID" sz="2500" dirty="0" err="1">
                <a:latin typeface="Nunito Sans Condensed" panose="020B0604020202020204" charset="0"/>
              </a:rPr>
              <a:t>benar-benar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hoaks</a:t>
            </a:r>
            <a:r>
              <a:rPr lang="en-ID" sz="2500" dirty="0">
                <a:latin typeface="Nunito Sans Condensed" panose="020B0604020202020204" charset="0"/>
              </a:rPr>
              <a:t>.</a:t>
            </a:r>
            <a:endParaRPr lang="en-US" sz="2500" dirty="0">
              <a:solidFill>
                <a:srgbClr val="000000"/>
              </a:solidFill>
              <a:latin typeface="Nunito Sans Condensed" panose="020B0604020202020204" charset="0"/>
              <a:ea typeface="Nunito Sans Condensed"/>
              <a:cs typeface="Nunito Sans Condensed"/>
              <a:sym typeface="Nunito Sans Condensed"/>
            </a:endParaRPr>
          </a:p>
        </p:txBody>
      </p:sp>
      <p:sp>
        <p:nvSpPr>
          <p:cNvPr id="37" name="Freeform 37"/>
          <p:cNvSpPr/>
          <p:nvPr/>
        </p:nvSpPr>
        <p:spPr>
          <a:xfrm>
            <a:off x="16785095" y="6043393"/>
            <a:ext cx="3005810" cy="3005810"/>
          </a:xfrm>
          <a:custGeom>
            <a:avLst/>
            <a:gdLst/>
            <a:ahLst/>
            <a:cxnLst/>
            <a:rect l="l" t="t" r="r" b="b"/>
            <a:pathLst>
              <a:path w="3005810" h="3005810">
                <a:moveTo>
                  <a:pt x="0" y="0"/>
                </a:moveTo>
                <a:lnTo>
                  <a:pt x="3005810" y="0"/>
                </a:lnTo>
                <a:lnTo>
                  <a:pt x="3005810" y="3005810"/>
                </a:lnTo>
                <a:lnTo>
                  <a:pt x="0" y="3005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C51B59B-0894-2784-DBA3-55CFEFCA4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8248" y="1432653"/>
            <a:ext cx="9676546" cy="3668232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3E1B4875-13C5-80FB-EE5E-A8FD8F6325B4}"/>
              </a:ext>
            </a:extLst>
          </p:cNvPr>
          <p:cNvSpPr txBox="1"/>
          <p:nvPr/>
        </p:nvSpPr>
        <p:spPr>
          <a:xfrm>
            <a:off x="6281591" y="6569817"/>
            <a:ext cx="4220438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00"/>
              </a:lnSpc>
              <a:spcBef>
                <a:spcPct val="0"/>
              </a:spcBef>
            </a:pPr>
            <a:r>
              <a:rPr lang="sv-SE" sz="2500" b="1" dirty="0">
                <a:latin typeface="Nunito Sans Condensed" panose="020B0604020202020204" charset="0"/>
              </a:rPr>
              <a:t>Kernel RBF</a:t>
            </a:r>
          </a:p>
          <a:p>
            <a:pPr algn="ctr">
              <a:lnSpc>
                <a:spcPts val="3100"/>
              </a:lnSpc>
              <a:spcBef>
                <a:spcPct val="0"/>
              </a:spcBef>
            </a:pPr>
            <a:r>
              <a:rPr lang="sv-SE" sz="2500" dirty="0">
                <a:latin typeface="Nunito Sans Condensed" panose="020B0604020202020204" charset="0"/>
              </a:rPr>
              <a:t>memberikan kinerja terbaik secara keseluruhan (F1-Score 78,93 %)</a:t>
            </a:r>
            <a:endParaRPr lang="en-US" sz="2500" dirty="0">
              <a:solidFill>
                <a:srgbClr val="000000"/>
              </a:solidFill>
              <a:latin typeface="Nunito Sans Condensed" panose="020B0604020202020204" charset="0"/>
              <a:ea typeface="Nunito Sans Condensed"/>
              <a:cs typeface="Nunito Sans Condensed"/>
              <a:sym typeface="Nunito Sans Condensed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81FBB0-DF60-9459-0287-C1C829116463}"/>
              </a:ext>
            </a:extLst>
          </p:cNvPr>
          <p:cNvSpPr txBox="1"/>
          <p:nvPr/>
        </p:nvSpPr>
        <p:spPr>
          <a:xfrm>
            <a:off x="312436" y="6179592"/>
            <a:ext cx="4206840" cy="816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ts val="2797"/>
              </a:lnSpc>
              <a:buNone/>
            </a:pPr>
            <a:r>
              <a:rPr lang="en-ID" sz="2500" b="1" kern="1200" dirty="0" err="1">
                <a:solidFill>
                  <a:srgbClr val="000000"/>
                </a:solidFill>
                <a:effectLst/>
                <a:latin typeface="Nunito Sans Condensed" panose="020B0604020202020204" charset="0"/>
                <a:ea typeface="+mn-ea"/>
                <a:cs typeface="+mn-cs"/>
              </a:rPr>
              <a:t>Akurasi</a:t>
            </a:r>
            <a:r>
              <a:rPr lang="en-ID" sz="2500" b="1" kern="1200" dirty="0">
                <a:solidFill>
                  <a:srgbClr val="000000"/>
                </a:solidFill>
                <a:effectLst/>
                <a:latin typeface="Nunito Sans Condensed" panose="020B0604020202020204" charset="0"/>
                <a:ea typeface="+mn-ea"/>
                <a:cs typeface="+mn-cs"/>
              </a:rPr>
              <a:t> </a:t>
            </a:r>
            <a:r>
              <a:rPr lang="en-ID" sz="2500" b="1" kern="1200" dirty="0" err="1">
                <a:solidFill>
                  <a:srgbClr val="000000"/>
                </a:solidFill>
                <a:effectLst/>
                <a:latin typeface="Nunito Sans Condensed" panose="020B0604020202020204" charset="0"/>
                <a:ea typeface="+mn-ea"/>
                <a:cs typeface="+mn-cs"/>
              </a:rPr>
              <a:t>Terbaik</a:t>
            </a:r>
            <a:endParaRPr lang="en-ID" sz="2500" dirty="0">
              <a:effectLst/>
            </a:endParaRPr>
          </a:p>
          <a:p>
            <a:pPr marL="0" algn="ctr" rtl="0" eaLnBrk="1" latinLnBrk="0" hangingPunct="1">
              <a:lnSpc>
                <a:spcPts val="2797"/>
              </a:lnSpc>
              <a:buNone/>
            </a:pPr>
            <a:r>
              <a:rPr lang="en-US" sz="2500" kern="1200" dirty="0">
                <a:solidFill>
                  <a:srgbClr val="000000"/>
                </a:solidFill>
                <a:effectLst/>
                <a:latin typeface="Nunito Sans Condensed" panose="020B0604020202020204" charset="0"/>
                <a:ea typeface="Nunito Sans Condensed" panose="020B0604020202020204" charset="0"/>
                <a:cs typeface="Nunito Sans Condensed" panose="020B0604020202020204" charset="0"/>
              </a:rPr>
              <a:t>78,60 %</a:t>
            </a:r>
            <a:endParaRPr lang="en-ID" sz="2500" dirty="0"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37950" y="755713"/>
            <a:ext cx="7212100" cy="341250"/>
            <a:chOff x="0" y="0"/>
            <a:chExt cx="1899483" cy="898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99483" cy="89877"/>
            </a:xfrm>
            <a:custGeom>
              <a:avLst/>
              <a:gdLst/>
              <a:ahLst/>
              <a:cxnLst/>
              <a:rect l="l" t="t" r="r" b="b"/>
              <a:pathLst>
                <a:path w="1899483" h="89877">
                  <a:moveTo>
                    <a:pt x="0" y="0"/>
                  </a:moveTo>
                  <a:lnTo>
                    <a:pt x="1899483" y="0"/>
                  </a:lnTo>
                  <a:lnTo>
                    <a:pt x="1899483" y="89877"/>
                  </a:lnTo>
                  <a:lnTo>
                    <a:pt x="0" y="89877"/>
                  </a:lnTo>
                  <a:close/>
                </a:path>
              </a:pathLst>
            </a:custGeom>
            <a:solidFill>
              <a:srgbClr val="B7CADB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899483" cy="108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76542" y="9049203"/>
            <a:ext cx="770523" cy="77052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182A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658238" y="487008"/>
            <a:ext cx="3259524" cy="3259524"/>
          </a:xfrm>
          <a:custGeom>
            <a:avLst/>
            <a:gdLst/>
            <a:ahLst/>
            <a:cxnLst/>
            <a:rect l="l" t="t" r="r" b="b"/>
            <a:pathLst>
              <a:path w="3259524" h="3259524">
                <a:moveTo>
                  <a:pt x="0" y="0"/>
                </a:moveTo>
                <a:lnTo>
                  <a:pt x="3259524" y="0"/>
                </a:lnTo>
                <a:lnTo>
                  <a:pt x="3259524" y="3259524"/>
                </a:lnTo>
                <a:lnTo>
                  <a:pt x="0" y="32595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5" name="TextBox 15"/>
          <p:cNvSpPr txBox="1"/>
          <p:nvPr/>
        </p:nvSpPr>
        <p:spPr>
          <a:xfrm>
            <a:off x="3929046" y="87312"/>
            <a:ext cx="10429907" cy="1037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ID" sz="6000" dirty="0" err="1"/>
              <a:t>Analisis</a:t>
            </a:r>
            <a:r>
              <a:rPr lang="en-ID" sz="6000" dirty="0"/>
              <a:t> </a:t>
            </a:r>
            <a:r>
              <a:rPr lang="en-ID" sz="6000" i="1" dirty="0"/>
              <a:t>Confusion Matrix</a:t>
            </a:r>
            <a:endParaRPr lang="en-US" sz="5999" dirty="0">
              <a:solidFill>
                <a:srgbClr val="000000"/>
              </a:solidFill>
              <a:latin typeface="Nunito Sans Condensed"/>
              <a:ea typeface="Nunito Sans Condensed"/>
              <a:cs typeface="Nunito Sans Condensed"/>
              <a:sym typeface="Nunito Sans Condense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259300" y="9189989"/>
            <a:ext cx="805006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dirty="0">
                <a:solidFill>
                  <a:srgbClr val="FFFFFF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10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200" y="2630606"/>
            <a:ext cx="5030306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000000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True Negative</a:t>
            </a:r>
          </a:p>
          <a:p>
            <a:pPr algn="ctr">
              <a:lnSpc>
                <a:spcPts val="3100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74 %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191000" y="7669700"/>
            <a:ext cx="10802018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00"/>
              </a:lnSpc>
              <a:spcBef>
                <a:spcPct val="0"/>
              </a:spcBef>
            </a:pPr>
            <a:r>
              <a:rPr lang="en-ID" sz="2500" dirty="0">
                <a:latin typeface="Nunito Sans Condensed" panose="020B0604020202020204" charset="0"/>
              </a:rPr>
              <a:t>Model RBF </a:t>
            </a:r>
            <a:r>
              <a:rPr lang="en-ID" sz="2500" dirty="0" err="1">
                <a:latin typeface="Nunito Sans Condensed" panose="020B0604020202020204" charset="0"/>
              </a:rPr>
              <a:t>lebih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unggul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dalam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meminimalkan</a:t>
            </a:r>
            <a:r>
              <a:rPr lang="en-ID" sz="2500" dirty="0">
                <a:latin typeface="Nunito Sans Condensed" panose="020B0604020202020204" charset="0"/>
              </a:rPr>
              <a:t> False Negative (Hoaks lolos), yang </a:t>
            </a:r>
            <a:r>
              <a:rPr lang="en-ID" sz="2500" dirty="0" err="1">
                <a:latin typeface="Nunito Sans Condensed" panose="020B0604020202020204" charset="0"/>
              </a:rPr>
              <a:t>merupakan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prioritas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dalam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sistem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deteksi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hoaks</a:t>
            </a:r>
            <a:r>
              <a:rPr lang="en-ID" sz="2500" dirty="0">
                <a:latin typeface="Nunito Sans Condensed" panose="020B0604020202020204" charset="0"/>
              </a:rPr>
              <a:t>.</a:t>
            </a:r>
            <a:endParaRPr lang="en-US" sz="2500" dirty="0">
              <a:solidFill>
                <a:srgbClr val="000000"/>
              </a:solidFill>
              <a:latin typeface="Nunito Sans Condensed" panose="020B0604020202020204" charset="0"/>
              <a:ea typeface="Nunito Sans Condensed"/>
              <a:cs typeface="Nunito Sans Condensed"/>
              <a:sym typeface="Nunito Sans Condensed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7636D2B-09A1-3D35-6399-1AACFE686F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041" y="1822526"/>
            <a:ext cx="7239916" cy="5715000"/>
          </a:xfrm>
          <a:prstGeom prst="rect">
            <a:avLst/>
          </a:prstGeom>
        </p:spPr>
      </p:pic>
      <p:sp>
        <p:nvSpPr>
          <p:cNvPr id="27" name="TextBox 20">
            <a:extLst>
              <a:ext uri="{FF2B5EF4-FFF2-40B4-BE49-F238E27FC236}">
                <a16:creationId xmlns:a16="http://schemas.microsoft.com/office/drawing/2014/main" id="{07FED036-9A9E-0656-3637-914E1DFB23C5}"/>
              </a:ext>
            </a:extLst>
          </p:cNvPr>
          <p:cNvSpPr txBox="1"/>
          <p:nvPr/>
        </p:nvSpPr>
        <p:spPr>
          <a:xfrm>
            <a:off x="284968" y="5905500"/>
            <a:ext cx="5030306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000000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False Negative</a:t>
            </a:r>
          </a:p>
          <a:p>
            <a:pPr algn="ctr">
              <a:lnSpc>
                <a:spcPts val="3100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19 %</a:t>
            </a:r>
          </a:p>
        </p:txBody>
      </p:sp>
      <p:sp>
        <p:nvSpPr>
          <p:cNvPr id="28" name="TextBox 20">
            <a:extLst>
              <a:ext uri="{FF2B5EF4-FFF2-40B4-BE49-F238E27FC236}">
                <a16:creationId xmlns:a16="http://schemas.microsoft.com/office/drawing/2014/main" id="{442A43E8-8986-B156-4B4B-CC3F5B8CB7C7}"/>
              </a:ext>
            </a:extLst>
          </p:cNvPr>
          <p:cNvSpPr txBox="1"/>
          <p:nvPr/>
        </p:nvSpPr>
        <p:spPr>
          <a:xfrm>
            <a:off x="12477865" y="6303044"/>
            <a:ext cx="5030306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000000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True Positive</a:t>
            </a:r>
          </a:p>
          <a:p>
            <a:pPr algn="ctr">
              <a:lnSpc>
                <a:spcPts val="3100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81 %</a:t>
            </a: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6060742F-38AB-23EA-7C8A-25E749AD7DA2}"/>
              </a:ext>
            </a:extLst>
          </p:cNvPr>
          <p:cNvSpPr txBox="1"/>
          <p:nvPr/>
        </p:nvSpPr>
        <p:spPr>
          <a:xfrm>
            <a:off x="12477865" y="2616749"/>
            <a:ext cx="5030306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000000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False Positive</a:t>
            </a:r>
          </a:p>
          <a:p>
            <a:pPr algn="ctr">
              <a:lnSpc>
                <a:spcPts val="3100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26 %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92853" y="3718479"/>
            <a:ext cx="4918236" cy="341250"/>
            <a:chOff x="0" y="0"/>
            <a:chExt cx="1295338" cy="898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5338" cy="89877"/>
            </a:xfrm>
            <a:custGeom>
              <a:avLst/>
              <a:gdLst/>
              <a:ahLst/>
              <a:cxnLst/>
              <a:rect l="l" t="t" r="r" b="b"/>
              <a:pathLst>
                <a:path w="1295338" h="89877">
                  <a:moveTo>
                    <a:pt x="0" y="0"/>
                  </a:moveTo>
                  <a:lnTo>
                    <a:pt x="1295338" y="0"/>
                  </a:lnTo>
                  <a:lnTo>
                    <a:pt x="1295338" y="89877"/>
                  </a:lnTo>
                  <a:lnTo>
                    <a:pt x="0" y="89877"/>
                  </a:lnTo>
                  <a:close/>
                </a:path>
              </a:pathLst>
            </a:custGeom>
            <a:solidFill>
              <a:srgbClr val="B7CADB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295338" cy="108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43545" y="3161267"/>
            <a:ext cx="4705840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5999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Kesimpulan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7050418" y="9049203"/>
            <a:ext cx="770523" cy="77052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182A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033176" y="9189989"/>
            <a:ext cx="805006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dirty="0">
                <a:solidFill>
                  <a:srgbClr val="FFFFFF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11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600950" y="2310585"/>
            <a:ext cx="10687050" cy="5665830"/>
            <a:chOff x="0" y="0"/>
            <a:chExt cx="2814696" cy="14922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14696" cy="1492235"/>
            </a:xfrm>
            <a:custGeom>
              <a:avLst/>
              <a:gdLst/>
              <a:ahLst/>
              <a:cxnLst/>
              <a:rect l="l" t="t" r="r" b="b"/>
              <a:pathLst>
                <a:path w="2814696" h="1492235">
                  <a:moveTo>
                    <a:pt x="0" y="0"/>
                  </a:moveTo>
                  <a:lnTo>
                    <a:pt x="2814696" y="0"/>
                  </a:lnTo>
                  <a:lnTo>
                    <a:pt x="2814696" y="1492235"/>
                  </a:lnTo>
                  <a:lnTo>
                    <a:pt x="0" y="1492235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814696" cy="15112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3366729" y="7979936"/>
            <a:ext cx="4234221" cy="1397311"/>
          </a:xfrm>
          <a:custGeom>
            <a:avLst/>
            <a:gdLst/>
            <a:ahLst/>
            <a:cxnLst/>
            <a:rect l="l" t="t" r="r" b="b"/>
            <a:pathLst>
              <a:path w="4234221" h="1397311">
                <a:moveTo>
                  <a:pt x="0" y="0"/>
                </a:moveTo>
                <a:lnTo>
                  <a:pt x="4234221" y="0"/>
                </a:lnTo>
                <a:lnTo>
                  <a:pt x="4234221" y="1397310"/>
                </a:lnTo>
                <a:lnTo>
                  <a:pt x="0" y="1397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4" name="Freeform 14"/>
          <p:cNvSpPr/>
          <p:nvPr/>
        </p:nvSpPr>
        <p:spPr>
          <a:xfrm>
            <a:off x="1939227" y="6575584"/>
            <a:ext cx="1427502" cy="1397311"/>
          </a:xfrm>
          <a:custGeom>
            <a:avLst/>
            <a:gdLst/>
            <a:ahLst/>
            <a:cxnLst/>
            <a:rect l="l" t="t" r="r" b="b"/>
            <a:pathLst>
              <a:path w="1427502" h="1397311">
                <a:moveTo>
                  <a:pt x="0" y="0"/>
                </a:moveTo>
                <a:lnTo>
                  <a:pt x="1427502" y="0"/>
                </a:lnTo>
                <a:lnTo>
                  <a:pt x="1427502" y="1397310"/>
                </a:lnTo>
                <a:lnTo>
                  <a:pt x="0" y="1397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96617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5" name="Freeform 15"/>
          <p:cNvSpPr/>
          <p:nvPr/>
        </p:nvSpPr>
        <p:spPr>
          <a:xfrm>
            <a:off x="16658238" y="487008"/>
            <a:ext cx="3259524" cy="3259524"/>
          </a:xfrm>
          <a:custGeom>
            <a:avLst/>
            <a:gdLst/>
            <a:ahLst/>
            <a:cxnLst/>
            <a:rect l="l" t="t" r="r" b="b"/>
            <a:pathLst>
              <a:path w="3259524" h="3259524">
                <a:moveTo>
                  <a:pt x="0" y="0"/>
                </a:moveTo>
                <a:lnTo>
                  <a:pt x="3259524" y="0"/>
                </a:lnTo>
                <a:lnTo>
                  <a:pt x="3259524" y="3259524"/>
                </a:lnTo>
                <a:lnTo>
                  <a:pt x="0" y="32595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6" name="TextBox 16"/>
          <p:cNvSpPr txBox="1"/>
          <p:nvPr/>
        </p:nvSpPr>
        <p:spPr>
          <a:xfrm>
            <a:off x="7783918" y="3111680"/>
            <a:ext cx="10054264" cy="3577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lnSpc>
                <a:spcPts val="3100"/>
              </a:lnSpc>
              <a:spcBef>
                <a:spcPct val="0"/>
              </a:spcBef>
              <a:buAutoNum type="arabicPeriod"/>
            </a:pPr>
            <a:r>
              <a:rPr lang="en-ID" sz="2500" b="1" dirty="0" err="1">
                <a:latin typeface="Nunito Sans Condensed" panose="020B0604020202020204" charset="0"/>
              </a:rPr>
              <a:t>Penerapan</a:t>
            </a:r>
            <a:r>
              <a:rPr lang="en-ID" sz="2500" b="1" dirty="0">
                <a:latin typeface="Nunito Sans Condensed" panose="020B0604020202020204" charset="0"/>
              </a:rPr>
              <a:t> </a:t>
            </a:r>
            <a:r>
              <a:rPr lang="en-ID" sz="2500" b="1" dirty="0" err="1">
                <a:latin typeface="Nunito Sans Condensed" panose="020B0604020202020204" charset="0"/>
              </a:rPr>
              <a:t>Berhasil</a:t>
            </a:r>
            <a:r>
              <a:rPr lang="en-ID" sz="2500" b="1" dirty="0">
                <a:latin typeface="Nunito Sans Condensed" panose="020B0604020202020204" charset="0"/>
              </a:rPr>
              <a:t>: </a:t>
            </a:r>
            <a:r>
              <a:rPr lang="en-ID" sz="2500" dirty="0" err="1">
                <a:latin typeface="Nunito Sans Condensed" panose="020B0604020202020204" charset="0"/>
              </a:rPr>
              <a:t>Algoritma</a:t>
            </a:r>
            <a:r>
              <a:rPr lang="en-ID" sz="2500" dirty="0">
                <a:latin typeface="Nunito Sans Condensed" panose="020B0604020202020204" charset="0"/>
              </a:rPr>
              <a:t> SVM </a:t>
            </a:r>
            <a:r>
              <a:rPr lang="en-ID" sz="2500" dirty="0" err="1">
                <a:latin typeface="Nunito Sans Condensed" panose="020B0604020202020204" charset="0"/>
              </a:rPr>
              <a:t>berhasil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diterapkan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untuk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membangun</a:t>
            </a:r>
            <a:r>
              <a:rPr lang="en-ID" sz="2500" dirty="0">
                <a:latin typeface="Nunito Sans Condensed" panose="020B0604020202020204" charset="0"/>
              </a:rPr>
              <a:t> model </a:t>
            </a:r>
            <a:r>
              <a:rPr lang="en-ID" sz="2500" dirty="0" err="1">
                <a:latin typeface="Nunito Sans Condensed" panose="020B0604020202020204" charset="0"/>
              </a:rPr>
              <a:t>klasifikasi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hoaks</a:t>
            </a:r>
            <a:r>
              <a:rPr lang="en-ID" sz="2500" dirty="0">
                <a:latin typeface="Nunito Sans Condensed" panose="020B0604020202020204" charset="0"/>
              </a:rPr>
              <a:t>/</a:t>
            </a:r>
            <a:r>
              <a:rPr lang="en-ID" sz="2500" dirty="0" err="1">
                <a:latin typeface="Nunito Sans Condensed" panose="020B0604020202020204" charset="0"/>
              </a:rPr>
              <a:t>fakta</a:t>
            </a:r>
            <a:r>
              <a:rPr lang="en-ID" sz="2500" dirty="0">
                <a:latin typeface="Nunito Sans Condensed" panose="020B0604020202020204" charset="0"/>
              </a:rPr>
              <a:t> pada </a:t>
            </a:r>
            <a:r>
              <a:rPr lang="en-ID" sz="2500" dirty="0" err="1">
                <a:latin typeface="Nunito Sans Condensed" panose="020B0604020202020204" charset="0"/>
              </a:rPr>
              <a:t>berita</a:t>
            </a:r>
            <a:r>
              <a:rPr lang="en-ID" sz="2500" dirty="0">
                <a:latin typeface="Nunito Sans Condensed" panose="020B0604020202020204" charset="0"/>
              </a:rPr>
              <a:t> online </a:t>
            </a:r>
            <a:r>
              <a:rPr lang="en-ID" sz="2500" dirty="0" err="1">
                <a:latin typeface="Nunito Sans Condensed" panose="020B0604020202020204" charset="0"/>
              </a:rPr>
              <a:t>berbahasa</a:t>
            </a:r>
            <a:r>
              <a:rPr lang="en-ID" sz="2500" dirty="0">
                <a:latin typeface="Nunito Sans Condensed" panose="020B0604020202020204" charset="0"/>
              </a:rPr>
              <a:t> Indonesia .</a:t>
            </a:r>
          </a:p>
          <a:p>
            <a:pPr marL="457200" indent="-457200" algn="just">
              <a:lnSpc>
                <a:spcPts val="3100"/>
              </a:lnSpc>
              <a:spcBef>
                <a:spcPct val="0"/>
              </a:spcBef>
              <a:buAutoNum type="arabicPeriod"/>
            </a:pPr>
            <a:r>
              <a:rPr lang="en-ID" sz="2500" b="1" dirty="0">
                <a:latin typeface="Nunito Sans Condensed" panose="020B0604020202020204" charset="0"/>
              </a:rPr>
              <a:t>Performa Model: </a:t>
            </a:r>
            <a:r>
              <a:rPr lang="en-ID" sz="2500" dirty="0" err="1">
                <a:latin typeface="Nunito Sans Condensed" panose="020B0604020202020204" charset="0"/>
              </a:rPr>
              <a:t>Konfigurasi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terbaik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adalah</a:t>
            </a:r>
            <a:r>
              <a:rPr lang="en-ID" sz="2500" dirty="0">
                <a:latin typeface="Nunito Sans Condensed" panose="020B0604020202020204" charset="0"/>
              </a:rPr>
              <a:t> SVM Kernel RBF </a:t>
            </a:r>
            <a:r>
              <a:rPr lang="en-ID" sz="2500" dirty="0" err="1">
                <a:latin typeface="Nunito Sans Condensed" panose="020B0604020202020204" charset="0"/>
              </a:rPr>
              <a:t>dengan</a:t>
            </a:r>
            <a:r>
              <a:rPr lang="en-ID" sz="2500" dirty="0">
                <a:latin typeface="Nunito Sans Condensed" panose="020B0604020202020204" charset="0"/>
              </a:rPr>
              <a:t> 1000 </a:t>
            </a:r>
            <a:r>
              <a:rPr lang="en-ID" sz="2500" dirty="0" err="1">
                <a:latin typeface="Nunito Sans Condensed" panose="020B0604020202020204" charset="0"/>
              </a:rPr>
              <a:t>fitur</a:t>
            </a:r>
            <a:r>
              <a:rPr lang="en-ID" sz="2500" dirty="0">
                <a:latin typeface="Nunito Sans Condensed" panose="020B0604020202020204" charset="0"/>
              </a:rPr>
              <a:t> TF-IDF .</a:t>
            </a:r>
          </a:p>
          <a:p>
            <a:pPr marL="457200" indent="-457200" algn="just">
              <a:lnSpc>
                <a:spcPts val="3100"/>
              </a:lnSpc>
              <a:spcBef>
                <a:spcPct val="0"/>
              </a:spcBef>
              <a:buAutoNum type="arabicPeriod"/>
            </a:pPr>
            <a:r>
              <a:rPr lang="en-ID" sz="2500" b="1" dirty="0">
                <a:latin typeface="Nunito Sans Condensed" panose="020B0604020202020204" charset="0"/>
              </a:rPr>
              <a:t>Nilai Kinerja: </a:t>
            </a:r>
            <a:r>
              <a:rPr lang="en-ID" sz="2500" dirty="0" err="1">
                <a:latin typeface="Nunito Sans Condensed" panose="020B0604020202020204" charset="0"/>
              </a:rPr>
              <a:t>Akurasi</a:t>
            </a:r>
            <a:r>
              <a:rPr lang="en-ID" sz="2500" dirty="0">
                <a:latin typeface="Nunito Sans Condensed" panose="020B0604020202020204" charset="0"/>
              </a:rPr>
              <a:t> 78,60 %, </a:t>
            </a:r>
            <a:r>
              <a:rPr lang="en-ID" sz="2500" dirty="0" err="1">
                <a:latin typeface="Nunito Sans Condensed" panose="020B0604020202020204" charset="0"/>
              </a:rPr>
              <a:t>Presisi</a:t>
            </a:r>
            <a:r>
              <a:rPr lang="en-ID" sz="2500" dirty="0">
                <a:latin typeface="Nunito Sans Condensed" panose="020B0604020202020204" charset="0"/>
              </a:rPr>
              <a:t> 77,44 %, Recall 80,47 %, dan F1-Score 78,93 %</a:t>
            </a:r>
          </a:p>
          <a:p>
            <a:pPr marL="457200" indent="-457200" algn="just">
              <a:lnSpc>
                <a:spcPts val="3100"/>
              </a:lnSpc>
              <a:spcBef>
                <a:spcPct val="0"/>
              </a:spcBef>
              <a:buAutoNum type="arabicPeriod"/>
            </a:pPr>
            <a:r>
              <a:rPr lang="en-ID" sz="2500" b="1" dirty="0" err="1">
                <a:latin typeface="Nunito Sans Condensed" panose="020B0604020202020204" charset="0"/>
              </a:rPr>
              <a:t>Efektivitas</a:t>
            </a:r>
            <a:r>
              <a:rPr lang="en-ID" sz="2500" b="1" dirty="0">
                <a:latin typeface="Nunito Sans Condensed" panose="020B0604020202020204" charset="0"/>
              </a:rPr>
              <a:t>:</a:t>
            </a:r>
            <a:r>
              <a:rPr lang="en-ID" sz="2500" dirty="0">
                <a:latin typeface="Nunito Sans Condensed" panose="020B0604020202020204" charset="0"/>
              </a:rPr>
              <a:t> Nilai Recall yang </a:t>
            </a:r>
            <a:r>
              <a:rPr lang="en-ID" sz="2500" dirty="0" err="1">
                <a:latin typeface="Nunito Sans Condensed" panose="020B0604020202020204" charset="0"/>
              </a:rPr>
              <a:t>tinggi</a:t>
            </a:r>
            <a:r>
              <a:rPr lang="en-ID" sz="2500" dirty="0">
                <a:latin typeface="Nunito Sans Condensed" panose="020B0604020202020204" charset="0"/>
              </a:rPr>
              <a:t> (80,47 %) </a:t>
            </a:r>
            <a:r>
              <a:rPr lang="en-ID" sz="2500" dirty="0" err="1">
                <a:latin typeface="Nunito Sans Condensed" panose="020B0604020202020204" charset="0"/>
              </a:rPr>
              <a:t>mengindikasikan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bahwa</a:t>
            </a:r>
            <a:r>
              <a:rPr lang="en-ID" sz="2500" dirty="0">
                <a:latin typeface="Nunito Sans Condensed" panose="020B0604020202020204" charset="0"/>
              </a:rPr>
              <a:t> model SVM </a:t>
            </a:r>
            <a:r>
              <a:rPr lang="en-ID" sz="2500" dirty="0" err="1">
                <a:latin typeface="Nunito Sans Condensed" panose="020B0604020202020204" charset="0"/>
              </a:rPr>
              <a:t>efektif</a:t>
            </a:r>
            <a:r>
              <a:rPr lang="en-ID" sz="2500" dirty="0">
                <a:latin typeface="Nunito Sans Condensed" panose="020B0604020202020204" charset="0"/>
              </a:rPr>
              <a:t> dan </a:t>
            </a:r>
            <a:r>
              <a:rPr lang="en-ID" sz="2500" dirty="0" err="1">
                <a:latin typeface="Nunito Sans Condensed" panose="020B0604020202020204" charset="0"/>
              </a:rPr>
              <a:t>layak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digunakan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sebagai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dasar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solusi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deteksi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hoaks</a:t>
            </a:r>
            <a:r>
              <a:rPr lang="en-ID" sz="2500" dirty="0">
                <a:latin typeface="Nunito Sans Condensed" panose="020B0604020202020204" charset="0"/>
              </a:rPr>
              <a:t> </a:t>
            </a:r>
            <a:r>
              <a:rPr lang="en-ID" sz="2500" dirty="0" err="1">
                <a:latin typeface="Nunito Sans Condensed" panose="020B0604020202020204" charset="0"/>
              </a:rPr>
              <a:t>otomatis</a:t>
            </a:r>
            <a:r>
              <a:rPr lang="en-ID" sz="2500" dirty="0">
                <a:latin typeface="Nunito Sans Condensed" panose="020B0604020202020204" charset="0"/>
              </a:rPr>
              <a:t>.</a:t>
            </a:r>
            <a:endParaRPr lang="en-US" sz="2500" dirty="0">
              <a:solidFill>
                <a:srgbClr val="000000"/>
              </a:solidFill>
              <a:latin typeface="Nunito Sans Condensed" panose="020B0604020202020204" charset="0"/>
              <a:ea typeface="Nunito Sans Condensed"/>
              <a:cs typeface="Nunito Sans Condensed"/>
              <a:sym typeface="Nunito Sans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82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3620" y="1387095"/>
            <a:ext cx="15440761" cy="7512811"/>
            <a:chOff x="0" y="0"/>
            <a:chExt cx="4066702" cy="19786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66703" cy="1978683"/>
            </a:xfrm>
            <a:custGeom>
              <a:avLst/>
              <a:gdLst/>
              <a:ahLst/>
              <a:cxnLst/>
              <a:rect l="l" t="t" r="r" b="b"/>
              <a:pathLst>
                <a:path w="4066703" h="1978683">
                  <a:moveTo>
                    <a:pt x="0" y="0"/>
                  </a:moveTo>
                  <a:lnTo>
                    <a:pt x="4066703" y="0"/>
                  </a:lnTo>
                  <a:lnTo>
                    <a:pt x="4066703" y="1978683"/>
                  </a:lnTo>
                  <a:lnTo>
                    <a:pt x="0" y="1978683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066702" cy="1997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521154" y="4834458"/>
            <a:ext cx="9245692" cy="520931"/>
            <a:chOff x="0" y="0"/>
            <a:chExt cx="2435079" cy="137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5079" cy="137200"/>
            </a:xfrm>
            <a:custGeom>
              <a:avLst/>
              <a:gdLst/>
              <a:ahLst/>
              <a:cxnLst/>
              <a:rect l="l" t="t" r="r" b="b"/>
              <a:pathLst>
                <a:path w="2435079" h="137200">
                  <a:moveTo>
                    <a:pt x="0" y="0"/>
                  </a:moveTo>
                  <a:lnTo>
                    <a:pt x="2435079" y="0"/>
                  </a:lnTo>
                  <a:lnTo>
                    <a:pt x="2435079" y="137200"/>
                  </a:lnTo>
                  <a:lnTo>
                    <a:pt x="0" y="137200"/>
                  </a:lnTo>
                  <a:close/>
                </a:path>
              </a:pathLst>
            </a:custGeom>
            <a:solidFill>
              <a:srgbClr val="B7CADB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435079" cy="156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868184" y="3848616"/>
            <a:ext cx="10551632" cy="1781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99"/>
              </a:lnSpc>
            </a:pPr>
            <a:r>
              <a:rPr lang="en-US" sz="10499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Terima Kasih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14619841" y="503457"/>
            <a:ext cx="3964881" cy="3964881"/>
          </a:xfrm>
          <a:custGeom>
            <a:avLst/>
            <a:gdLst/>
            <a:ahLst/>
            <a:cxnLst/>
            <a:rect l="l" t="t" r="r" b="b"/>
            <a:pathLst>
              <a:path w="3964881" h="3964881">
                <a:moveTo>
                  <a:pt x="3964881" y="0"/>
                </a:moveTo>
                <a:lnTo>
                  <a:pt x="0" y="0"/>
                </a:lnTo>
                <a:lnTo>
                  <a:pt x="0" y="3964881"/>
                </a:lnTo>
                <a:lnTo>
                  <a:pt x="3964881" y="3964881"/>
                </a:lnTo>
                <a:lnTo>
                  <a:pt x="39648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0" name="Freeform 10"/>
          <p:cNvSpPr/>
          <p:nvPr/>
        </p:nvSpPr>
        <p:spPr>
          <a:xfrm>
            <a:off x="2266174" y="8027264"/>
            <a:ext cx="4234221" cy="1397311"/>
          </a:xfrm>
          <a:custGeom>
            <a:avLst/>
            <a:gdLst/>
            <a:ahLst/>
            <a:cxnLst/>
            <a:rect l="l" t="t" r="r" b="b"/>
            <a:pathLst>
              <a:path w="4234221" h="1397311">
                <a:moveTo>
                  <a:pt x="0" y="0"/>
                </a:moveTo>
                <a:lnTo>
                  <a:pt x="4234221" y="0"/>
                </a:lnTo>
                <a:lnTo>
                  <a:pt x="4234221" y="1397311"/>
                </a:lnTo>
                <a:lnTo>
                  <a:pt x="0" y="1397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1" name="Freeform 11"/>
          <p:cNvSpPr/>
          <p:nvPr/>
        </p:nvSpPr>
        <p:spPr>
          <a:xfrm>
            <a:off x="838672" y="6629954"/>
            <a:ext cx="1427502" cy="1397311"/>
          </a:xfrm>
          <a:custGeom>
            <a:avLst/>
            <a:gdLst/>
            <a:ahLst/>
            <a:cxnLst/>
            <a:rect l="l" t="t" r="r" b="b"/>
            <a:pathLst>
              <a:path w="1427502" h="1397311">
                <a:moveTo>
                  <a:pt x="0" y="0"/>
                </a:moveTo>
                <a:lnTo>
                  <a:pt x="1427502" y="0"/>
                </a:lnTo>
                <a:lnTo>
                  <a:pt x="1427502" y="1397310"/>
                </a:lnTo>
                <a:lnTo>
                  <a:pt x="0" y="13973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96617"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12" name="Group 12"/>
          <p:cNvGrpSpPr/>
          <p:nvPr/>
        </p:nvGrpSpPr>
        <p:grpSpPr>
          <a:xfrm>
            <a:off x="583495" y="503457"/>
            <a:ext cx="3086100" cy="308610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182A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68329" y="1205636"/>
            <a:ext cx="2195690" cy="2035614"/>
            <a:chOff x="0" y="0"/>
            <a:chExt cx="578289" cy="5361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8289" cy="536129"/>
            </a:xfrm>
            <a:custGeom>
              <a:avLst/>
              <a:gdLst/>
              <a:ahLst/>
              <a:cxnLst/>
              <a:rect l="l" t="t" r="r" b="b"/>
              <a:pathLst>
                <a:path w="578289" h="536129">
                  <a:moveTo>
                    <a:pt x="0" y="0"/>
                  </a:moveTo>
                  <a:lnTo>
                    <a:pt x="578289" y="0"/>
                  </a:lnTo>
                  <a:lnTo>
                    <a:pt x="578289" y="536129"/>
                  </a:lnTo>
                  <a:lnTo>
                    <a:pt x="0" y="536129"/>
                  </a:lnTo>
                  <a:close/>
                </a:path>
              </a:pathLst>
            </a:custGeom>
            <a:solidFill>
              <a:srgbClr val="B7CADB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578289" cy="555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998186" y="7930899"/>
            <a:ext cx="6261114" cy="1493676"/>
            <a:chOff x="0" y="0"/>
            <a:chExt cx="1649018" cy="39339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49018" cy="393396"/>
            </a:xfrm>
            <a:custGeom>
              <a:avLst/>
              <a:gdLst/>
              <a:ahLst/>
              <a:cxnLst/>
              <a:rect l="l" t="t" r="r" b="b"/>
              <a:pathLst>
                <a:path w="1649018" h="393396">
                  <a:moveTo>
                    <a:pt x="0" y="0"/>
                  </a:moveTo>
                  <a:lnTo>
                    <a:pt x="1649018" y="0"/>
                  </a:lnTo>
                  <a:lnTo>
                    <a:pt x="1649018" y="393396"/>
                  </a:lnTo>
                  <a:lnTo>
                    <a:pt x="0" y="393396"/>
                  </a:lnTo>
                  <a:close/>
                </a:path>
              </a:pathLst>
            </a:custGeom>
            <a:solidFill>
              <a:srgbClr val="6182A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649018" cy="4124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297208" y="8217016"/>
            <a:ext cx="6051824" cy="1017807"/>
            <a:chOff x="0" y="0"/>
            <a:chExt cx="1593896" cy="26806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93896" cy="268064"/>
            </a:xfrm>
            <a:custGeom>
              <a:avLst/>
              <a:gdLst/>
              <a:ahLst/>
              <a:cxnLst/>
              <a:rect l="l" t="t" r="r" b="b"/>
              <a:pathLst>
                <a:path w="1593896" h="268064">
                  <a:moveTo>
                    <a:pt x="0" y="0"/>
                  </a:moveTo>
                  <a:lnTo>
                    <a:pt x="1593896" y="0"/>
                  </a:lnTo>
                  <a:lnTo>
                    <a:pt x="1593896" y="268064"/>
                  </a:lnTo>
                  <a:lnTo>
                    <a:pt x="0" y="268064"/>
                  </a:lnTo>
                  <a:close/>
                </a:path>
              </a:pathLst>
            </a:custGeom>
            <a:solidFill>
              <a:srgbClr val="87A3C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1593896" cy="2871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243489" y="5943307"/>
            <a:ext cx="328528" cy="304577"/>
            <a:chOff x="0" y="0"/>
            <a:chExt cx="578289" cy="53612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78289" cy="536129"/>
            </a:xfrm>
            <a:custGeom>
              <a:avLst/>
              <a:gdLst/>
              <a:ahLst/>
              <a:cxnLst/>
              <a:rect l="l" t="t" r="r" b="b"/>
              <a:pathLst>
                <a:path w="578289" h="536129">
                  <a:moveTo>
                    <a:pt x="0" y="0"/>
                  </a:moveTo>
                  <a:lnTo>
                    <a:pt x="578289" y="0"/>
                  </a:lnTo>
                  <a:lnTo>
                    <a:pt x="578289" y="536129"/>
                  </a:lnTo>
                  <a:lnTo>
                    <a:pt x="0" y="536129"/>
                  </a:lnTo>
                  <a:close/>
                </a:path>
              </a:pathLst>
            </a:custGeom>
            <a:solidFill>
              <a:srgbClr val="6182A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578289" cy="555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840903" y="5943307"/>
            <a:ext cx="328528" cy="304577"/>
            <a:chOff x="0" y="0"/>
            <a:chExt cx="578289" cy="53612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78289" cy="536129"/>
            </a:xfrm>
            <a:custGeom>
              <a:avLst/>
              <a:gdLst/>
              <a:ahLst/>
              <a:cxnLst/>
              <a:rect l="l" t="t" r="r" b="b"/>
              <a:pathLst>
                <a:path w="578289" h="536129">
                  <a:moveTo>
                    <a:pt x="0" y="0"/>
                  </a:moveTo>
                  <a:lnTo>
                    <a:pt x="578289" y="0"/>
                  </a:lnTo>
                  <a:lnTo>
                    <a:pt x="578289" y="536129"/>
                  </a:lnTo>
                  <a:lnTo>
                    <a:pt x="0" y="536129"/>
                  </a:lnTo>
                  <a:close/>
                </a:path>
              </a:pathLst>
            </a:custGeom>
            <a:solidFill>
              <a:srgbClr val="6182A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578289" cy="555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438318" y="5943307"/>
            <a:ext cx="328528" cy="304577"/>
            <a:chOff x="0" y="0"/>
            <a:chExt cx="578289" cy="53612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78289" cy="536129"/>
            </a:xfrm>
            <a:custGeom>
              <a:avLst/>
              <a:gdLst/>
              <a:ahLst/>
              <a:cxnLst/>
              <a:rect l="l" t="t" r="r" b="b"/>
              <a:pathLst>
                <a:path w="578289" h="536129">
                  <a:moveTo>
                    <a:pt x="0" y="0"/>
                  </a:moveTo>
                  <a:lnTo>
                    <a:pt x="578289" y="0"/>
                  </a:lnTo>
                  <a:lnTo>
                    <a:pt x="578289" y="536129"/>
                  </a:lnTo>
                  <a:lnTo>
                    <a:pt x="0" y="536129"/>
                  </a:lnTo>
                  <a:close/>
                </a:path>
              </a:pathLst>
            </a:custGeom>
            <a:solidFill>
              <a:srgbClr val="6182A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578289" cy="555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0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647</Words>
  <Application>Microsoft Office PowerPoint</Application>
  <PresentationFormat>Custom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Nunito Sans Condensed Light</vt:lpstr>
      <vt:lpstr>Nunito Sans Condensed Bold</vt:lpstr>
      <vt:lpstr>Nunito Sans Condensed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Biru simpel formal seminar proposal sidang presentasi</dc:title>
  <dc:creator>Rifky Fachuzi</dc:creator>
  <cp:lastModifiedBy>Rifky Fachuzi</cp:lastModifiedBy>
  <cp:revision>6</cp:revision>
  <dcterms:created xsi:type="dcterms:W3CDTF">2006-08-16T00:00:00Z</dcterms:created>
  <dcterms:modified xsi:type="dcterms:W3CDTF">2025-12-01T08:59:01Z</dcterms:modified>
  <dc:identifier>DAGsRofj558</dc:identifier>
</cp:coreProperties>
</file>